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83" r:id="rId4"/>
  </p:sldMasterIdLst>
  <p:notesMasterIdLst>
    <p:notesMasterId r:id="rId14"/>
  </p:notesMasterIdLst>
  <p:handoutMasterIdLst>
    <p:handoutMasterId r:id="rId15"/>
  </p:handoutMasterIdLst>
  <p:sldIdLst>
    <p:sldId id="2147473044" r:id="rId5"/>
    <p:sldId id="2147473042" r:id="rId6"/>
    <p:sldId id="2147473043" r:id="rId7"/>
    <p:sldId id="2147473046" r:id="rId8"/>
    <p:sldId id="2147473053" r:id="rId9"/>
    <p:sldId id="2147473057" r:id="rId10"/>
    <p:sldId id="2147473058" r:id="rId11"/>
    <p:sldId id="2147473055" r:id="rId12"/>
    <p:sldId id="2147473060" r:id="rId13"/>
  </p:sldIdLst>
  <p:sldSz cx="14630400" cy="8229600"/>
  <p:notesSz cx="6858000" cy="9144000"/>
  <p:defaultTextStyle>
    <a:defPPr>
      <a:defRPr lang="en-US"/>
    </a:defPPr>
    <a:lvl1pPr marL="0" algn="l" defTabSz="457140" rtl="0" eaLnBrk="1" latinLnBrk="0" hangingPunct="1">
      <a:defRPr sz="1800" kern="1200">
        <a:solidFill>
          <a:schemeClr val="tx1"/>
        </a:solidFill>
        <a:latin typeface="+mn-lt"/>
        <a:ea typeface="+mn-ea"/>
        <a:cs typeface="+mn-cs"/>
      </a:defRPr>
    </a:lvl1pPr>
    <a:lvl2pPr marL="457140" algn="l" defTabSz="457140" rtl="0" eaLnBrk="1" latinLnBrk="0" hangingPunct="1">
      <a:defRPr sz="1800" kern="1200">
        <a:solidFill>
          <a:schemeClr val="tx1"/>
        </a:solidFill>
        <a:latin typeface="+mn-lt"/>
        <a:ea typeface="+mn-ea"/>
        <a:cs typeface="+mn-cs"/>
      </a:defRPr>
    </a:lvl2pPr>
    <a:lvl3pPr marL="914281" algn="l" defTabSz="457140" rtl="0" eaLnBrk="1" latinLnBrk="0" hangingPunct="1">
      <a:defRPr sz="1800" kern="1200">
        <a:solidFill>
          <a:schemeClr val="tx1"/>
        </a:solidFill>
        <a:latin typeface="+mn-lt"/>
        <a:ea typeface="+mn-ea"/>
        <a:cs typeface="+mn-cs"/>
      </a:defRPr>
    </a:lvl3pPr>
    <a:lvl4pPr marL="1371420" algn="l" defTabSz="457140" rtl="0" eaLnBrk="1" latinLnBrk="0" hangingPunct="1">
      <a:defRPr sz="1800" kern="1200">
        <a:solidFill>
          <a:schemeClr val="tx1"/>
        </a:solidFill>
        <a:latin typeface="+mn-lt"/>
        <a:ea typeface="+mn-ea"/>
        <a:cs typeface="+mn-cs"/>
      </a:defRPr>
    </a:lvl4pPr>
    <a:lvl5pPr marL="1828560" algn="l" defTabSz="457140" rtl="0" eaLnBrk="1" latinLnBrk="0" hangingPunct="1">
      <a:defRPr sz="1800" kern="1200">
        <a:solidFill>
          <a:schemeClr val="tx1"/>
        </a:solidFill>
        <a:latin typeface="+mn-lt"/>
        <a:ea typeface="+mn-ea"/>
        <a:cs typeface="+mn-cs"/>
      </a:defRPr>
    </a:lvl5pPr>
    <a:lvl6pPr marL="2285701" algn="l" defTabSz="457140" rtl="0" eaLnBrk="1" latinLnBrk="0" hangingPunct="1">
      <a:defRPr sz="1800" kern="1200">
        <a:solidFill>
          <a:schemeClr val="tx1"/>
        </a:solidFill>
        <a:latin typeface="+mn-lt"/>
        <a:ea typeface="+mn-ea"/>
        <a:cs typeface="+mn-cs"/>
      </a:defRPr>
    </a:lvl6pPr>
    <a:lvl7pPr marL="2742841" algn="l" defTabSz="457140" rtl="0" eaLnBrk="1" latinLnBrk="0" hangingPunct="1">
      <a:defRPr sz="1800" kern="1200">
        <a:solidFill>
          <a:schemeClr val="tx1"/>
        </a:solidFill>
        <a:latin typeface="+mn-lt"/>
        <a:ea typeface="+mn-ea"/>
        <a:cs typeface="+mn-cs"/>
      </a:defRPr>
    </a:lvl7pPr>
    <a:lvl8pPr marL="3199981" algn="l" defTabSz="457140" rtl="0" eaLnBrk="1" latinLnBrk="0" hangingPunct="1">
      <a:defRPr sz="1800" kern="1200">
        <a:solidFill>
          <a:schemeClr val="tx1"/>
        </a:solidFill>
        <a:latin typeface="+mn-lt"/>
        <a:ea typeface="+mn-ea"/>
        <a:cs typeface="+mn-cs"/>
      </a:defRPr>
    </a:lvl8pPr>
    <a:lvl9pPr marL="3657122" algn="l" defTabSz="45714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C1033BF-5D4C-30C7-ED01-ABB637525550}" name="Vanessa Gadberry" initials="VG" userId="S::vanessa.gadberry@alteryx.com::c8258abc-907a-4162-a11c-6e2d7f372b0a"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A2A2A"/>
    <a:srgbClr val="282828"/>
    <a:srgbClr val="2C2C2C"/>
    <a:srgbClr val="060609"/>
    <a:srgbClr val="E7EDF6"/>
    <a:srgbClr val="99A8B2"/>
    <a:srgbClr val="004263"/>
    <a:srgbClr val="99CDEA"/>
    <a:srgbClr val="0082CA"/>
    <a:srgbClr val="FFECD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DC5E50-3E90-4FCA-B6B7-2EA116C5F857}" v="1" dt="2026-01-15T17:56:18.29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6005" autoAdjust="0"/>
  </p:normalViewPr>
  <p:slideViewPr>
    <p:cSldViewPr snapToGrid="0">
      <p:cViewPr varScale="1">
        <p:scale>
          <a:sx n="86" d="100"/>
          <a:sy n="86" d="100"/>
        </p:scale>
        <p:origin x="96" y="264"/>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 Id="rId22"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an Mulhern" userId="be23c3e5-0e80-42fe-a93e-a9e032e00352" providerId="ADAL" clId="{9AB7648C-75CF-4D76-8076-6EC2A1EB47C0}"/>
    <pc:docChg chg="modSld">
      <pc:chgData name="Sean Mulhern" userId="be23c3e5-0e80-42fe-a93e-a9e032e00352" providerId="ADAL" clId="{9AB7648C-75CF-4D76-8076-6EC2A1EB47C0}" dt="2026-01-15T17:56:18.290" v="0" actId="478"/>
      <pc:docMkLst>
        <pc:docMk/>
      </pc:docMkLst>
      <pc:sldChg chg="delSp">
        <pc:chgData name="Sean Mulhern" userId="be23c3e5-0e80-42fe-a93e-a9e032e00352" providerId="ADAL" clId="{9AB7648C-75CF-4D76-8076-6EC2A1EB47C0}" dt="2026-01-15T17:56:18.290" v="0" actId="478"/>
        <pc:sldMkLst>
          <pc:docMk/>
          <pc:sldMk cId="511598925" sldId="2147473043"/>
        </pc:sldMkLst>
        <pc:picChg chg="del">
          <ac:chgData name="Sean Mulhern" userId="be23c3e5-0e80-42fe-a93e-a9e032e00352" providerId="ADAL" clId="{9AB7648C-75CF-4D76-8076-6EC2A1EB47C0}" dt="2026-01-15T17:56:18.290" v="0" actId="478"/>
          <ac:picMkLst>
            <pc:docMk/>
            <pc:sldMk cId="511598925" sldId="2147473043"/>
            <ac:picMk id="15" creationId="{47D91D3B-7338-BC29-521A-AF5B47648C0C}"/>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65DCB56-EFA7-C0DD-04E9-0192D8ECEAA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94CC3C37-44F8-2247-27AE-352C769A76A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449A600-E211-D14B-AB3B-E59519246C6F}" type="datetimeFigureOut">
              <a:rPr lang="en-US" smtClean="0"/>
              <a:t>1/30/2026</a:t>
            </a:fld>
            <a:endParaRPr lang="en-US"/>
          </a:p>
        </p:txBody>
      </p:sp>
      <p:sp>
        <p:nvSpPr>
          <p:cNvPr id="4" name="Footer Placeholder 3">
            <a:extLst>
              <a:ext uri="{FF2B5EF4-FFF2-40B4-BE49-F238E27FC236}">
                <a16:creationId xmlns:a16="http://schemas.microsoft.com/office/drawing/2014/main" id="{61ACED1C-C94B-66A9-A8DC-1C4F64A84DF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8AE686AC-9F2E-F389-4102-C74B98E57E8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04B9302-B2A5-F44C-A7D2-461181EFE49F}" type="slidenum">
              <a:rPr lang="en-US" smtClean="0"/>
              <a:t>‹#›</a:t>
            </a:fld>
            <a:endParaRPr lang="en-US"/>
          </a:p>
        </p:txBody>
      </p:sp>
    </p:spTree>
    <p:extLst>
      <p:ext uri="{BB962C8B-B14F-4D97-AF65-F5344CB8AC3E}">
        <p14:creationId xmlns:p14="http://schemas.microsoft.com/office/powerpoint/2010/main" val="200319000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74A4AFF-35CF-A948-A73E-722C8587F82A}" type="datetimeFigureOut">
              <a:rPr lang="en-US" smtClean="0"/>
              <a:t>1/30/2026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A66D86C-6E58-8140-9E80-B58DA6A0616A}" type="slidenum">
              <a:rPr lang="en-US" smtClean="0"/>
              <a:t>‹#›</a:t>
            </a:fld>
            <a:endParaRPr lang="en-US"/>
          </a:p>
        </p:txBody>
      </p:sp>
    </p:spTree>
    <p:extLst>
      <p:ext uri="{BB962C8B-B14F-4D97-AF65-F5344CB8AC3E}">
        <p14:creationId xmlns:p14="http://schemas.microsoft.com/office/powerpoint/2010/main" val="2412874290"/>
      </p:ext>
    </p:extLst>
  </p:cSld>
  <p:clrMap bg1="lt1" tx1="dk1" bg2="lt2" tx2="dk2" accent1="accent1" accent2="accent2" accent3="accent3" accent4="accent4" accent5="accent5" accent6="accent6" hlink="hlink" folHlink="folHlink"/>
  <p:notesStyle>
    <a:lvl1pPr marL="0" algn="l" defTabSz="1097136" rtl="0" eaLnBrk="1" latinLnBrk="0" hangingPunct="1">
      <a:defRPr sz="1440" kern="1200">
        <a:solidFill>
          <a:schemeClr val="tx1"/>
        </a:solidFill>
        <a:latin typeface="+mn-lt"/>
        <a:ea typeface="+mn-ea"/>
        <a:cs typeface="+mn-cs"/>
      </a:defRPr>
    </a:lvl1pPr>
    <a:lvl2pPr marL="548568" algn="l" defTabSz="1097136" rtl="0" eaLnBrk="1" latinLnBrk="0" hangingPunct="1">
      <a:defRPr sz="1440" kern="1200">
        <a:solidFill>
          <a:schemeClr val="tx1"/>
        </a:solidFill>
        <a:latin typeface="+mn-lt"/>
        <a:ea typeface="+mn-ea"/>
        <a:cs typeface="+mn-cs"/>
      </a:defRPr>
    </a:lvl2pPr>
    <a:lvl3pPr marL="1097136" algn="l" defTabSz="1097136" rtl="0" eaLnBrk="1" latinLnBrk="0" hangingPunct="1">
      <a:defRPr sz="1440" kern="1200">
        <a:solidFill>
          <a:schemeClr val="tx1"/>
        </a:solidFill>
        <a:latin typeface="+mn-lt"/>
        <a:ea typeface="+mn-ea"/>
        <a:cs typeface="+mn-cs"/>
      </a:defRPr>
    </a:lvl3pPr>
    <a:lvl4pPr marL="1645705" algn="l" defTabSz="1097136" rtl="0" eaLnBrk="1" latinLnBrk="0" hangingPunct="1">
      <a:defRPr sz="1440" kern="1200">
        <a:solidFill>
          <a:schemeClr val="tx1"/>
        </a:solidFill>
        <a:latin typeface="+mn-lt"/>
        <a:ea typeface="+mn-ea"/>
        <a:cs typeface="+mn-cs"/>
      </a:defRPr>
    </a:lvl4pPr>
    <a:lvl5pPr marL="2194273" algn="l" defTabSz="1097136" rtl="0" eaLnBrk="1" latinLnBrk="0" hangingPunct="1">
      <a:defRPr sz="1440" kern="1200">
        <a:solidFill>
          <a:schemeClr val="tx1"/>
        </a:solidFill>
        <a:latin typeface="+mn-lt"/>
        <a:ea typeface="+mn-ea"/>
        <a:cs typeface="+mn-cs"/>
      </a:defRPr>
    </a:lvl5pPr>
    <a:lvl6pPr marL="2742841" algn="l" defTabSz="1097136" rtl="0" eaLnBrk="1" latinLnBrk="0" hangingPunct="1">
      <a:defRPr sz="1440" kern="1200">
        <a:solidFill>
          <a:schemeClr val="tx1"/>
        </a:solidFill>
        <a:latin typeface="+mn-lt"/>
        <a:ea typeface="+mn-ea"/>
        <a:cs typeface="+mn-cs"/>
      </a:defRPr>
    </a:lvl6pPr>
    <a:lvl7pPr marL="3291409" algn="l" defTabSz="1097136" rtl="0" eaLnBrk="1" latinLnBrk="0" hangingPunct="1">
      <a:defRPr sz="1440" kern="1200">
        <a:solidFill>
          <a:schemeClr val="tx1"/>
        </a:solidFill>
        <a:latin typeface="+mn-lt"/>
        <a:ea typeface="+mn-ea"/>
        <a:cs typeface="+mn-cs"/>
      </a:defRPr>
    </a:lvl7pPr>
    <a:lvl8pPr marL="3839977" algn="l" defTabSz="1097136" rtl="0" eaLnBrk="1" latinLnBrk="0" hangingPunct="1">
      <a:defRPr sz="1440" kern="1200">
        <a:solidFill>
          <a:schemeClr val="tx1"/>
        </a:solidFill>
        <a:latin typeface="+mn-lt"/>
        <a:ea typeface="+mn-ea"/>
        <a:cs typeface="+mn-cs"/>
      </a:defRPr>
    </a:lvl8pPr>
    <a:lvl9pPr marL="4388545" algn="l" defTabSz="1097136" rtl="0" eaLnBrk="1" latinLnBrk="0" hangingPunct="1">
      <a:defRPr sz="144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p:spTree>
      <p:nvGrpSpPr>
        <p:cNvPr id="1" name=""/>
        <p:cNvGrpSpPr/>
        <p:nvPr/>
      </p:nvGrpSpPr>
      <p:grpSpPr>
        <a:xfrm>
          <a:off x="0" y="0"/>
          <a:ext cx="0" cy="0"/>
          <a:chOff x="0" y="0"/>
          <a:chExt cx="0" cy="0"/>
        </a:xfrm>
      </p:grpSpPr>
    </p:spTree>
    <p:extLst>
      <p:ext uri="{BB962C8B-B14F-4D97-AF65-F5344CB8AC3E}">
        <p14:creationId xmlns:p14="http://schemas.microsoft.com/office/powerpoint/2010/main" val="25969507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Agenda">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24523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ontent - Title Only">
    <p:spTree>
      <p:nvGrpSpPr>
        <p:cNvPr id="1" name=""/>
        <p:cNvGrpSpPr/>
        <p:nvPr/>
      </p:nvGrpSpPr>
      <p:grpSpPr>
        <a:xfrm>
          <a:off x="0" y="0"/>
          <a:ext cx="0" cy="0"/>
          <a:chOff x="0" y="0"/>
          <a:chExt cx="0" cy="0"/>
        </a:xfrm>
      </p:grpSpPr>
    </p:spTree>
    <p:extLst>
      <p:ext uri="{BB962C8B-B14F-4D97-AF65-F5344CB8AC3E}">
        <p14:creationId xmlns:p14="http://schemas.microsoft.com/office/powerpoint/2010/main" val="174935061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5">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49658697"/>
      </p:ext>
    </p:extLst>
  </p:cSld>
  <p:clrMap bg1="lt1" tx1="dk1" bg2="lt2" tx2="dk2" accent1="accent1" accent2="accent2" accent3="accent3" accent4="accent4" accent5="accent5" accent6="accent6" hlink="hlink" folHlink="folHlink"/>
  <p:sldLayoutIdLst>
    <p:sldLayoutId id="2147483784" r:id="rId1"/>
    <p:sldLayoutId id="2147483788" r:id="rId2"/>
    <p:sldLayoutId id="2147483792" r:id="rId3"/>
  </p:sldLayoutIdLst>
  <p:hf hdr="0" ftr="0" dt="0"/>
  <p:txStyles>
    <p:titleStyle>
      <a:lvl1pPr algn="l" defTabSz="1097299" rtl="0" eaLnBrk="1" latinLnBrk="0" hangingPunct="1">
        <a:lnSpc>
          <a:spcPct val="90000"/>
        </a:lnSpc>
        <a:spcBef>
          <a:spcPct val="0"/>
        </a:spcBef>
        <a:buNone/>
        <a:defRPr sz="3200" b="1" i="0" kern="1200" spc="0" baseline="0">
          <a:solidFill>
            <a:schemeClr val="tx1"/>
          </a:solidFill>
          <a:latin typeface="Arial" panose="020B0604020202020204" pitchFamily="34" charset="0"/>
          <a:ea typeface="+mj-ea"/>
          <a:cs typeface="Arial" panose="020B0604020202020204" pitchFamily="34" charset="0"/>
        </a:defRPr>
      </a:lvl1pPr>
    </p:titleStyle>
    <p:bodyStyle>
      <a:lvl1pPr marL="0" indent="0" algn="l" defTabSz="1097299" rtl="0" eaLnBrk="1" latinLnBrk="0" hangingPunct="1">
        <a:lnSpc>
          <a:spcPct val="110000"/>
        </a:lnSpc>
        <a:spcBef>
          <a:spcPts val="1200"/>
        </a:spcBef>
        <a:buClr>
          <a:schemeClr val="tx1"/>
        </a:buClr>
        <a:buFont typeface="Arial" panose="020B0604020202020204" pitchFamily="34" charset="0"/>
        <a:buNone/>
        <a:defRPr sz="1800" b="0" i="0" kern="1200">
          <a:solidFill>
            <a:schemeClr val="tx1"/>
          </a:solidFill>
          <a:latin typeface="Arial" panose="020B0604020202020204" pitchFamily="34" charset="0"/>
          <a:ea typeface="+mn-ea"/>
          <a:cs typeface="Arial" panose="020B0604020202020204" pitchFamily="34" charset="0"/>
        </a:defRPr>
      </a:lvl1pPr>
      <a:lvl2pPr marL="228600" indent="-194310" algn="l" defTabSz="1097299" rtl="0" eaLnBrk="1" latinLnBrk="0" hangingPunct="1">
        <a:lnSpc>
          <a:spcPct val="110000"/>
        </a:lnSpc>
        <a:spcBef>
          <a:spcPts val="800"/>
        </a:spcBef>
        <a:buClr>
          <a:schemeClr val="tx1"/>
        </a:buClr>
        <a:buSzPct val="100000"/>
        <a:buFont typeface="Arial" panose="020B0604020202020204" pitchFamily="34" charset="0"/>
        <a:buChar char="•"/>
        <a:defRPr sz="1800" b="0" i="0" kern="1200">
          <a:solidFill>
            <a:schemeClr val="tx1"/>
          </a:solidFill>
          <a:latin typeface="Arial" panose="020B0604020202020204" pitchFamily="34" charset="0"/>
          <a:ea typeface="+mn-ea"/>
          <a:cs typeface="Arial" panose="020B0604020202020204" pitchFamily="34" charset="0"/>
        </a:defRPr>
      </a:lvl2pPr>
      <a:lvl3pPr marL="457200" indent="-194310" algn="l" defTabSz="1097299" rtl="0" eaLnBrk="1" latinLnBrk="0" hangingPunct="1">
        <a:lnSpc>
          <a:spcPct val="110000"/>
        </a:lnSpc>
        <a:spcBef>
          <a:spcPts val="800"/>
        </a:spcBef>
        <a:buClr>
          <a:schemeClr val="tx1"/>
        </a:buClr>
        <a:buSzPct val="100000"/>
        <a:buFont typeface="Arial" panose="020B0604020202020204" pitchFamily="34" charset="0"/>
        <a:buChar char="•"/>
        <a:defRPr sz="1600" b="0" i="0" kern="1200">
          <a:solidFill>
            <a:schemeClr val="tx1"/>
          </a:solidFill>
          <a:latin typeface="Arial" panose="020B0604020202020204" pitchFamily="34" charset="0"/>
          <a:ea typeface="+mn-ea"/>
          <a:cs typeface="Arial" panose="020B0604020202020204" pitchFamily="34" charset="0"/>
        </a:defRPr>
      </a:lvl3pPr>
      <a:lvl4pPr marL="685800" indent="-194310" algn="l" defTabSz="1097299" rtl="0" eaLnBrk="1" latinLnBrk="0" hangingPunct="1">
        <a:lnSpc>
          <a:spcPct val="110000"/>
        </a:lnSpc>
        <a:spcBef>
          <a:spcPts val="800"/>
        </a:spcBef>
        <a:buClr>
          <a:schemeClr val="tx1"/>
        </a:buClr>
        <a:buFont typeface="Arial" panose="020B0604020202020204" pitchFamily="34" charset="0"/>
        <a:buChar char="•"/>
        <a:defRPr sz="1600" b="0" i="0" kern="1200">
          <a:solidFill>
            <a:schemeClr val="tx1"/>
          </a:solidFill>
          <a:latin typeface="Arial" panose="020B0604020202020204" pitchFamily="34" charset="0"/>
          <a:ea typeface="+mn-ea"/>
          <a:cs typeface="Arial" panose="020B0604020202020204" pitchFamily="34" charset="0"/>
        </a:defRPr>
      </a:lvl4pPr>
      <a:lvl5pPr marL="914400" indent="-194310" algn="l" defTabSz="1097299" rtl="0" eaLnBrk="1" latinLnBrk="0" hangingPunct="1">
        <a:lnSpc>
          <a:spcPct val="110000"/>
        </a:lnSpc>
        <a:spcBef>
          <a:spcPts val="800"/>
        </a:spcBef>
        <a:buClr>
          <a:schemeClr val="tx1"/>
        </a:buClr>
        <a:buFont typeface="Arial" panose="020B0604020202020204" pitchFamily="34" charset="0"/>
        <a:buChar char="•"/>
        <a:defRPr sz="1600" b="0" i="0" kern="1200">
          <a:solidFill>
            <a:schemeClr val="tx1"/>
          </a:solidFill>
          <a:latin typeface="Arial" panose="020B0604020202020204" pitchFamily="34" charset="0"/>
          <a:ea typeface="+mn-ea"/>
          <a:cs typeface="Arial" panose="020B0604020202020204" pitchFamily="34" charset="0"/>
        </a:defRPr>
      </a:lvl5pPr>
      <a:lvl6pPr marL="3017573" indent="-274325" algn="l" defTabSz="1097299"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222" indent="-274325" algn="l" defTabSz="1097299"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71" indent="-274325" algn="l" defTabSz="1097299"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522" indent="-274325" algn="l" defTabSz="1097299"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99" rtl="0" eaLnBrk="1" latinLnBrk="0" hangingPunct="1">
        <a:defRPr sz="2160" kern="1200">
          <a:solidFill>
            <a:schemeClr val="tx1"/>
          </a:solidFill>
          <a:latin typeface="+mn-lt"/>
          <a:ea typeface="+mn-ea"/>
          <a:cs typeface="+mn-cs"/>
        </a:defRPr>
      </a:lvl1pPr>
      <a:lvl2pPr marL="548649" algn="l" defTabSz="1097299" rtl="0" eaLnBrk="1" latinLnBrk="0" hangingPunct="1">
        <a:defRPr sz="2160" kern="1200">
          <a:solidFill>
            <a:schemeClr val="tx1"/>
          </a:solidFill>
          <a:latin typeface="+mn-lt"/>
          <a:ea typeface="+mn-ea"/>
          <a:cs typeface="+mn-cs"/>
        </a:defRPr>
      </a:lvl2pPr>
      <a:lvl3pPr marL="1097299" algn="l" defTabSz="1097299" rtl="0" eaLnBrk="1" latinLnBrk="0" hangingPunct="1">
        <a:defRPr sz="2160" kern="1200">
          <a:solidFill>
            <a:schemeClr val="tx1"/>
          </a:solidFill>
          <a:latin typeface="+mn-lt"/>
          <a:ea typeface="+mn-ea"/>
          <a:cs typeface="+mn-cs"/>
        </a:defRPr>
      </a:lvl3pPr>
      <a:lvl4pPr marL="1645949" algn="l" defTabSz="1097299" rtl="0" eaLnBrk="1" latinLnBrk="0" hangingPunct="1">
        <a:defRPr sz="2160" kern="1200">
          <a:solidFill>
            <a:schemeClr val="tx1"/>
          </a:solidFill>
          <a:latin typeface="+mn-lt"/>
          <a:ea typeface="+mn-ea"/>
          <a:cs typeface="+mn-cs"/>
        </a:defRPr>
      </a:lvl4pPr>
      <a:lvl5pPr marL="2194599" algn="l" defTabSz="1097299" rtl="0" eaLnBrk="1" latinLnBrk="0" hangingPunct="1">
        <a:defRPr sz="2160" kern="1200">
          <a:solidFill>
            <a:schemeClr val="tx1"/>
          </a:solidFill>
          <a:latin typeface="+mn-lt"/>
          <a:ea typeface="+mn-ea"/>
          <a:cs typeface="+mn-cs"/>
        </a:defRPr>
      </a:lvl5pPr>
      <a:lvl6pPr marL="2743248" algn="l" defTabSz="1097299" rtl="0" eaLnBrk="1" latinLnBrk="0" hangingPunct="1">
        <a:defRPr sz="2160" kern="1200">
          <a:solidFill>
            <a:schemeClr val="tx1"/>
          </a:solidFill>
          <a:latin typeface="+mn-lt"/>
          <a:ea typeface="+mn-ea"/>
          <a:cs typeface="+mn-cs"/>
        </a:defRPr>
      </a:lvl6pPr>
      <a:lvl7pPr marL="3291897" algn="l" defTabSz="1097299" rtl="0" eaLnBrk="1" latinLnBrk="0" hangingPunct="1">
        <a:defRPr sz="2160" kern="1200">
          <a:solidFill>
            <a:schemeClr val="tx1"/>
          </a:solidFill>
          <a:latin typeface="+mn-lt"/>
          <a:ea typeface="+mn-ea"/>
          <a:cs typeface="+mn-cs"/>
        </a:defRPr>
      </a:lvl7pPr>
      <a:lvl8pPr marL="3840547" algn="l" defTabSz="1097299" rtl="0" eaLnBrk="1" latinLnBrk="0" hangingPunct="1">
        <a:defRPr sz="2160" kern="1200">
          <a:solidFill>
            <a:schemeClr val="tx1"/>
          </a:solidFill>
          <a:latin typeface="+mn-lt"/>
          <a:ea typeface="+mn-ea"/>
          <a:cs typeface="+mn-cs"/>
        </a:defRPr>
      </a:lvl8pPr>
      <a:lvl9pPr marL="4389197" algn="l" defTabSz="1097299" rtl="0" eaLnBrk="1" latinLnBrk="0" hangingPunct="1">
        <a:defRPr sz="216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76">
          <p15:clr>
            <a:srgbClr val="F26B43"/>
          </p15:clr>
        </p15:guide>
        <p15:guide id="2">
          <p15:clr>
            <a:srgbClr val="F26B43"/>
          </p15:clr>
        </p15:guide>
        <p15:guide id="3" pos="1152">
          <p15:clr>
            <a:srgbClr val="F26B43"/>
          </p15:clr>
        </p15:guide>
        <p15:guide id="4" pos="9216">
          <p15:clr>
            <a:srgbClr val="F26B43"/>
          </p15:clr>
        </p15:guide>
        <p15:guide id="5" pos="1728">
          <p15:clr>
            <a:srgbClr val="F26B43"/>
          </p15:clr>
        </p15:guide>
        <p15:guide id="6" pos="2305">
          <p15:clr>
            <a:srgbClr val="F26B43"/>
          </p15:clr>
        </p15:guide>
        <p15:guide id="7" pos="2880">
          <p15:clr>
            <a:srgbClr val="F26B43"/>
          </p15:clr>
        </p15:guide>
        <p15:guide id="8" pos="3456">
          <p15:clr>
            <a:srgbClr val="F26B43"/>
          </p15:clr>
        </p15:guide>
        <p15:guide id="9" pos="4032">
          <p15:clr>
            <a:srgbClr val="F26B43"/>
          </p15:clr>
        </p15:guide>
        <p15:guide id="10" pos="4608">
          <p15:clr>
            <a:srgbClr val="F26B43"/>
          </p15:clr>
        </p15:guide>
        <p15:guide id="11" pos="5184">
          <p15:clr>
            <a:srgbClr val="F26B43"/>
          </p15:clr>
        </p15:guide>
        <p15:guide id="12" pos="5760">
          <p15:clr>
            <a:srgbClr val="F26B43"/>
          </p15:clr>
        </p15:guide>
        <p15:guide id="13" pos="6336">
          <p15:clr>
            <a:srgbClr val="F26B43"/>
          </p15:clr>
        </p15:guide>
        <p15:guide id="14" pos="8064">
          <p15:clr>
            <a:srgbClr val="F26B43"/>
          </p15:clr>
        </p15:guide>
        <p15:guide id="15" pos="6913">
          <p15:clr>
            <a:srgbClr val="F26B43"/>
          </p15:clr>
        </p15:guide>
        <p15:guide id="16" pos="7488">
          <p15:clr>
            <a:srgbClr val="F26B43"/>
          </p15:clr>
        </p15:guide>
        <p15:guide id="17" pos="8640">
          <p15:clr>
            <a:srgbClr val="F26B43"/>
          </p15:clr>
        </p15:guide>
        <p15:guide id="18" orient="horz" pos="576">
          <p15:clr>
            <a:srgbClr val="F26B43"/>
          </p15:clr>
        </p15:guide>
        <p15:guide id="20" orient="horz" pos="1152">
          <p15:clr>
            <a:srgbClr val="F26B43"/>
          </p15:clr>
        </p15:guide>
        <p15:guide id="21" orient="horz" pos="1728">
          <p15:clr>
            <a:srgbClr val="F26B43"/>
          </p15:clr>
        </p15:guide>
        <p15:guide id="22" orient="horz" pos="4608">
          <p15:clr>
            <a:srgbClr val="F26B43"/>
          </p15:clr>
        </p15:guide>
        <p15:guide id="23" orient="horz" pos="2304">
          <p15:clr>
            <a:srgbClr val="F26B43"/>
          </p15:clr>
        </p15:guide>
        <p15:guide id="24" orient="horz" pos="2880">
          <p15:clr>
            <a:srgbClr val="F26B43"/>
          </p15:clr>
        </p15:guide>
        <p15:guide id="25" orient="horz" pos="3456">
          <p15:clr>
            <a:srgbClr val="F26B43"/>
          </p15:clr>
        </p15:guide>
        <p15:guide id="26" orient="horz" pos="4032">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hyperlink" Target="mailto:USGREGROE@GMAIL.COM" TargetMode="External"/><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idx="4294967295"/>
          </p:nvPr>
        </p:nvSpPr>
        <p:spPr>
          <a:xfrm>
            <a:off x="914400" y="1603950"/>
            <a:ext cx="8034728" cy="2286000"/>
          </a:xfrm>
          <a:prstGeom prst="rect">
            <a:avLst/>
          </a:prstGeom>
        </p:spPr>
        <p:txBody>
          <a:bodyPr/>
          <a:lstStyle/>
          <a:p>
            <a:r>
              <a:t>Alteryx Migration Case Study</a:t>
            </a:r>
          </a:p>
        </p:txBody>
      </p:sp>
      <p:sp>
        <p:nvSpPr>
          <p:cNvPr id="3" name="Subtitle 2"/>
          <p:cNvSpPr>
            <a:spLocks noGrp="1"/>
          </p:cNvSpPr>
          <p:nvPr>
            <p:ph type="subTitle" idx="4294967295"/>
          </p:nvPr>
        </p:nvSpPr>
        <p:spPr>
          <a:xfrm>
            <a:off x="914401" y="4114800"/>
            <a:ext cx="6400800" cy="914400"/>
          </a:xfrm>
          <a:prstGeom prst="rect">
            <a:avLst/>
          </a:prstGeom>
        </p:spPr>
        <p:txBody>
          <a:bodyPr/>
          <a:lstStyle/>
          <a:p>
            <a:r>
              <a:rPr lang="en-US" dirty="0"/>
              <a:t>From Spaghetti to Scripts</a:t>
            </a:r>
            <a:endParaRPr dirty="0"/>
          </a:p>
        </p:txBody>
      </p:sp>
      <p:sp>
        <p:nvSpPr>
          <p:cNvPr id="4" name="Text Placeholder 3"/>
          <p:cNvSpPr>
            <a:spLocks noGrp="1"/>
          </p:cNvSpPr>
          <p:nvPr>
            <p:ph type="body" sz="quarter" idx="4294967295"/>
          </p:nvPr>
        </p:nvSpPr>
        <p:spPr>
          <a:xfrm>
            <a:off x="914399" y="914400"/>
            <a:ext cx="4572000" cy="228600"/>
          </a:xfrm>
          <a:prstGeom prst="rect">
            <a:avLst/>
          </a:prstGeom>
        </p:spPr>
        <p:txBody>
          <a:bodyPr/>
          <a:lstStyle/>
          <a:p>
            <a:r>
              <a:rPr dirty="0"/>
              <a:t>AI-assisted migration of Alteryx workflow logic to </a:t>
            </a:r>
            <a:r>
              <a:t>Qlik Sense</a:t>
            </a:r>
            <a:endParaRPr dirty="0"/>
          </a:p>
        </p:txBody>
      </p:sp>
      <p:sp>
        <p:nvSpPr>
          <p:cNvPr id="6" name="Text Placeholder 5"/>
          <p:cNvSpPr>
            <a:spLocks noGrp="1"/>
          </p:cNvSpPr>
          <p:nvPr>
            <p:ph type="body" sz="quarter" idx="4294967295"/>
          </p:nvPr>
        </p:nvSpPr>
        <p:spPr>
          <a:xfrm>
            <a:off x="914400" y="5110833"/>
            <a:ext cx="3657600" cy="228600"/>
          </a:xfrm>
          <a:prstGeom prst="rect">
            <a:avLst/>
          </a:prstGeom>
        </p:spPr>
        <p:txBody>
          <a:bodyPr/>
          <a:lstStyle/>
          <a:p>
            <a:r>
              <a:rPr lang="en-US" dirty="0"/>
              <a:t>Greg Roeper</a:t>
            </a:r>
            <a:endParaRPr dirty="0"/>
          </a:p>
        </p:txBody>
      </p:sp>
      <p:sp>
        <p:nvSpPr>
          <p:cNvPr id="5" name="TextBox 4">
            <a:extLst>
              <a:ext uri="{FF2B5EF4-FFF2-40B4-BE49-F238E27FC236}">
                <a16:creationId xmlns:a16="http://schemas.microsoft.com/office/drawing/2014/main" id="{B4D96C27-599A-D8B6-4CAD-56132924E5C8}"/>
              </a:ext>
            </a:extLst>
          </p:cNvPr>
          <p:cNvSpPr txBox="1"/>
          <p:nvPr/>
        </p:nvSpPr>
        <p:spPr>
          <a:xfrm>
            <a:off x="0" y="7175715"/>
            <a:ext cx="3936569" cy="923330"/>
          </a:xfrm>
          <a:prstGeom prst="rect">
            <a:avLst/>
          </a:prstGeom>
          <a:noFill/>
        </p:spPr>
        <p:txBody>
          <a:bodyPr wrap="square" rtlCol="0">
            <a:spAutoFit/>
          </a:bodyPr>
          <a:lstStyle/>
          <a:p>
            <a:r>
              <a:rPr lang="en-US" dirty="0">
                <a:solidFill>
                  <a:schemeClr val="bg1"/>
                </a:solidFill>
                <a:hlinkClick r:id="rId3">
                  <a:extLst>
                    <a:ext uri="{A12FA001-AC4F-418D-AE19-62706E023703}">
                      <ahyp:hlinkClr xmlns:ahyp="http://schemas.microsoft.com/office/drawing/2018/hyperlinkcolor" val="tx"/>
                    </a:ext>
                  </a:extLst>
                </a:hlinkClick>
              </a:rPr>
              <a:t>USGREGROE@GMAIL.COM</a:t>
            </a:r>
            <a:endParaRPr lang="en-US" dirty="0">
              <a:solidFill>
                <a:schemeClr val="bg1"/>
              </a:solidFill>
            </a:endParaRPr>
          </a:p>
          <a:p>
            <a:endParaRPr lang="en-US" dirty="0">
              <a:solidFill>
                <a:schemeClr val="bg1"/>
              </a:solidFill>
            </a:endParaRPr>
          </a:p>
          <a:p>
            <a:r>
              <a:rPr lang="en-US" dirty="0">
                <a:solidFill>
                  <a:schemeClr val="bg1"/>
                </a:solidFill>
              </a:rPr>
              <a:t>www.linkedin.com/in/gregoryroeper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9BE2A6A-9FF9-6533-BC66-DBEEC36E417B}"/>
              </a:ext>
            </a:extLst>
          </p:cNvPr>
          <p:cNvSpPr>
            <a:spLocks noGrp="1"/>
          </p:cNvSpPr>
          <p:nvPr>
            <p:ph type="sldNum" sz="quarter" idx="4294967295"/>
          </p:nvPr>
        </p:nvSpPr>
        <p:spPr>
          <a:xfrm>
            <a:off x="13714021" y="7620001"/>
            <a:ext cx="459180" cy="438150"/>
          </a:xfrm>
          <a:prstGeom prst="rect">
            <a:avLst/>
          </a:prstGeom>
        </p:spPr>
        <p:txBody>
          <a:bodyPr/>
          <a:lstStyle/>
          <a:p>
            <a:fld id="{3D4F4C84-0D31-A643-82AF-CFAC5D1B5615}" type="slidenum">
              <a:rPr lang="en-US" smtClean="0"/>
              <a:pPr/>
              <a:t>2</a:t>
            </a:fld>
            <a:endParaRPr lang="en-US"/>
          </a:p>
        </p:txBody>
      </p:sp>
      <p:sp>
        <p:nvSpPr>
          <p:cNvPr id="4" name="Text Placeholder 3">
            <a:extLst>
              <a:ext uri="{FF2B5EF4-FFF2-40B4-BE49-F238E27FC236}">
                <a16:creationId xmlns:a16="http://schemas.microsoft.com/office/drawing/2014/main" id="{252742D6-EAB7-3163-BCCE-1EB0CE3C96FD}"/>
              </a:ext>
            </a:extLst>
          </p:cNvPr>
          <p:cNvSpPr>
            <a:spLocks noGrp="1"/>
          </p:cNvSpPr>
          <p:nvPr>
            <p:ph type="body" sz="quarter" idx="4294967295"/>
          </p:nvPr>
        </p:nvSpPr>
        <p:spPr>
          <a:xfrm>
            <a:off x="914400" y="549728"/>
            <a:ext cx="11887198" cy="271767"/>
          </a:xfrm>
          <a:prstGeom prst="rect">
            <a:avLst/>
          </a:prstGeom>
        </p:spPr>
        <p:txBody>
          <a:bodyPr/>
          <a:lstStyle/>
          <a:p>
            <a:r>
              <a:rPr lang="en-US" dirty="0"/>
              <a:t>Alteryx Use Case – GSP Data &amp; Reporting</a:t>
            </a:r>
          </a:p>
        </p:txBody>
      </p:sp>
      <p:sp>
        <p:nvSpPr>
          <p:cNvPr id="17" name="Rectangle 10">
            <a:extLst>
              <a:ext uri="{FF2B5EF4-FFF2-40B4-BE49-F238E27FC236}">
                <a16:creationId xmlns:a16="http://schemas.microsoft.com/office/drawing/2014/main" id="{E7A69938-221C-F606-D5B0-4C8B4EA5A97D}"/>
              </a:ext>
            </a:extLst>
          </p:cNvPr>
          <p:cNvSpPr/>
          <p:nvPr/>
        </p:nvSpPr>
        <p:spPr>
          <a:xfrm>
            <a:off x="6694789" y="1243174"/>
            <a:ext cx="3940014" cy="4223368"/>
          </a:xfrm>
          <a:prstGeom prst="rect">
            <a:avLst/>
          </a:prstGeom>
          <a:ln w="38100"/>
        </p:spPr>
        <p:style>
          <a:lnRef idx="2">
            <a:schemeClr val="accent1"/>
          </a:lnRef>
          <a:fillRef idx="1">
            <a:schemeClr val="lt1"/>
          </a:fillRef>
          <a:effectRef idx="0">
            <a:schemeClr val="accent1"/>
          </a:effectRef>
          <a:fontRef idx="minor">
            <a:schemeClr val="dk1"/>
          </a:fontRef>
        </p:style>
        <p:txBody>
          <a:bodyPr vert="horz" wrap="square" lIns="109694" tIns="329095" rIns="109694" bIns="109694" anchor="t" anchorCtr="0" compatLnSpc="1">
            <a:noAutofit/>
          </a:bodyPr>
          <a:lstStyle/>
          <a:p>
            <a:pPr defTabSz="548474">
              <a:defRPr sz="1800" b="0" i="0" u="none" strike="noStrike" kern="0" cap="none" spc="0" baseline="0">
                <a:solidFill>
                  <a:srgbClr val="000000"/>
                </a:solidFill>
                <a:uFillTx/>
              </a:defRPr>
            </a:pPr>
            <a:r>
              <a:rPr lang="en-US" sz="1440" b="1" dirty="0"/>
              <a:t>Quantitative Value</a:t>
            </a:r>
          </a:p>
          <a:p>
            <a:pPr defTabSz="548474">
              <a:defRPr sz="1800" b="0" i="0" u="none" strike="noStrike" kern="0" cap="none" spc="0" baseline="0">
                <a:solidFill>
                  <a:srgbClr val="000000"/>
                </a:solidFill>
                <a:uFillTx/>
              </a:defRPr>
            </a:pPr>
            <a:r>
              <a:rPr lang="en-US" sz="1320" kern="0" dirty="0">
                <a:solidFill>
                  <a:srgbClr val="000000"/>
                </a:solidFill>
              </a:rPr>
              <a:t>Creating a base set of Python tools to translate Alteryx native code to Qlik Sense native code reduce conversion time by 40%.</a:t>
            </a:r>
          </a:p>
          <a:p>
            <a:pPr defTabSz="548474">
              <a:defRPr sz="1800" b="0" i="0" u="none" strike="noStrike" kern="0" cap="none" spc="0" baseline="0">
                <a:solidFill>
                  <a:srgbClr val="000000"/>
                </a:solidFill>
                <a:uFillTx/>
              </a:defRPr>
            </a:pPr>
            <a:endParaRPr lang="en-US" sz="1440" b="1" dirty="0">
              <a:cs typeface="Segoe UI"/>
            </a:endParaRPr>
          </a:p>
          <a:p>
            <a:pPr defTabSz="548474">
              <a:defRPr sz="1800" b="0" i="0" u="none" strike="noStrike" kern="0" cap="none" spc="0" baseline="0">
                <a:solidFill>
                  <a:srgbClr val="000000"/>
                </a:solidFill>
                <a:uFillTx/>
              </a:defRPr>
            </a:pPr>
            <a:r>
              <a:rPr lang="en-US" sz="1440" b="1" dirty="0">
                <a:cs typeface="Segoe UI"/>
              </a:rPr>
              <a:t>Qualitative Value</a:t>
            </a:r>
          </a:p>
          <a:p>
            <a:pPr defTabSz="548474">
              <a:defRPr sz="1800" b="0" i="0" u="none" strike="noStrike" kern="0" cap="none" spc="0" baseline="0">
                <a:solidFill>
                  <a:srgbClr val="000000"/>
                </a:solidFill>
                <a:uFillTx/>
              </a:defRPr>
            </a:pPr>
            <a:r>
              <a:rPr lang="en-US" sz="1320" kern="0" dirty="0">
                <a:solidFill>
                  <a:srgbClr val="000000"/>
                </a:solidFill>
              </a:rPr>
              <a:t>AI augmentation assured a coherent flow and improved error trapping during the code migration.</a:t>
            </a:r>
          </a:p>
          <a:p>
            <a:pPr defTabSz="548474">
              <a:defRPr sz="1800" b="0" i="0" u="none" strike="noStrike" kern="0" cap="none" spc="0" baseline="0">
                <a:solidFill>
                  <a:srgbClr val="000000"/>
                </a:solidFill>
                <a:uFillTx/>
              </a:defRPr>
            </a:pPr>
            <a:endParaRPr lang="en-US" sz="1440" b="1" dirty="0">
              <a:cs typeface="Segoe UI"/>
            </a:endParaRPr>
          </a:p>
        </p:txBody>
      </p:sp>
      <p:sp>
        <p:nvSpPr>
          <p:cNvPr id="18" name="Rectangle 11">
            <a:extLst>
              <a:ext uri="{FF2B5EF4-FFF2-40B4-BE49-F238E27FC236}">
                <a16:creationId xmlns:a16="http://schemas.microsoft.com/office/drawing/2014/main" id="{B94E4D0C-AFCC-FA69-B68C-2E4ECCF160E5}"/>
              </a:ext>
            </a:extLst>
          </p:cNvPr>
          <p:cNvSpPr/>
          <p:nvPr/>
        </p:nvSpPr>
        <p:spPr>
          <a:xfrm>
            <a:off x="7044824" y="1095440"/>
            <a:ext cx="2692436" cy="295466"/>
          </a:xfrm>
          <a:prstGeom prst="rect">
            <a:avLst/>
          </a:prstGeom>
          <a:solidFill>
            <a:srgbClr val="FFFFFF"/>
          </a:solidFill>
          <a:ln cap="flat">
            <a:noFill/>
            <a:prstDash val="solid"/>
          </a:ln>
        </p:spPr>
        <p:txBody>
          <a:bodyPr vert="horz" wrap="square" lIns="54852" tIns="0" rIns="54852" bIns="0" anchor="ctr" anchorCtr="0" compatLnSpc="1">
            <a:spAutoFit/>
          </a:bodyPr>
          <a:lstStyle/>
          <a:p>
            <a:pPr defTabSz="548474">
              <a:defRPr sz="1800" b="0" i="0" u="none" strike="noStrike" kern="0" cap="none" spc="0" baseline="0">
                <a:solidFill>
                  <a:srgbClr val="000000"/>
                </a:solidFill>
                <a:uFillTx/>
              </a:defRPr>
            </a:pPr>
            <a:r>
              <a:rPr lang="en-US" sz="1920" b="1" dirty="0">
                <a:solidFill>
                  <a:srgbClr val="0080CB"/>
                </a:solidFill>
                <a:latin typeface="+mj-lt"/>
              </a:rPr>
              <a:t>BENEFITS</a:t>
            </a:r>
          </a:p>
        </p:txBody>
      </p:sp>
      <p:sp>
        <p:nvSpPr>
          <p:cNvPr id="21" name="Rectangle 14">
            <a:extLst>
              <a:ext uri="{FF2B5EF4-FFF2-40B4-BE49-F238E27FC236}">
                <a16:creationId xmlns:a16="http://schemas.microsoft.com/office/drawing/2014/main" id="{F21E46BB-7CA6-C81C-1840-F6FD6F2B9F25}"/>
              </a:ext>
            </a:extLst>
          </p:cNvPr>
          <p:cNvSpPr/>
          <p:nvPr/>
        </p:nvSpPr>
        <p:spPr>
          <a:xfrm>
            <a:off x="914400" y="1243173"/>
            <a:ext cx="5324960" cy="4223368"/>
          </a:xfrm>
          <a:prstGeom prst="rect">
            <a:avLst/>
          </a:prstGeom>
          <a:ln w="38100"/>
        </p:spPr>
        <p:style>
          <a:lnRef idx="2">
            <a:schemeClr val="accent1"/>
          </a:lnRef>
          <a:fillRef idx="1">
            <a:schemeClr val="lt1"/>
          </a:fillRef>
          <a:effectRef idx="0">
            <a:schemeClr val="accent1"/>
          </a:effectRef>
          <a:fontRef idx="minor">
            <a:schemeClr val="dk1"/>
          </a:fontRef>
        </p:style>
        <p:txBody>
          <a:bodyPr vert="horz" wrap="square" lIns="109694" tIns="329095" rIns="109694" bIns="109694" anchor="t" anchorCtr="0" compatLnSpc="1">
            <a:noAutofit/>
          </a:bodyPr>
          <a:lstStyle/>
          <a:p>
            <a:pPr defTabSz="548474">
              <a:defRPr sz="1800" b="0" i="0" u="none" strike="noStrike" kern="0" cap="none" spc="0" baseline="0">
                <a:solidFill>
                  <a:srgbClr val="000000"/>
                </a:solidFill>
                <a:uFillTx/>
              </a:defRPr>
            </a:pPr>
            <a:r>
              <a:rPr lang="en-US" sz="1440" b="1" dirty="0"/>
              <a:t>Objective: </a:t>
            </a:r>
          </a:p>
          <a:p>
            <a:r>
              <a:rPr lang="en-US" sz="1320" kern="0" dirty="0">
                <a:solidFill>
                  <a:srgbClr val="000000"/>
                </a:solidFill>
              </a:rPr>
              <a:t>Enterprise-wide initiative focused on three pillars:</a:t>
            </a:r>
          </a:p>
          <a:p>
            <a:pPr marL="285750" indent="-285750">
              <a:buFont typeface="Arial" panose="020B0604020202020204" pitchFamily="34" charset="0"/>
              <a:buChar char="•"/>
            </a:pPr>
            <a:r>
              <a:rPr lang="en-US" sz="1320" kern="0" dirty="0">
                <a:solidFill>
                  <a:srgbClr val="000000"/>
                </a:solidFill>
              </a:rPr>
              <a:t>Cost Reduction: Consolidation of software licenses.</a:t>
            </a:r>
          </a:p>
          <a:p>
            <a:pPr marL="285750" indent="-285750">
              <a:buFont typeface="Arial" panose="020B0604020202020204" pitchFamily="34" charset="0"/>
              <a:buChar char="•"/>
            </a:pPr>
            <a:r>
              <a:rPr lang="en-US" sz="1320" kern="0" dirty="0">
                <a:solidFill>
                  <a:srgbClr val="000000"/>
                </a:solidFill>
              </a:rPr>
              <a:t>Data Security: Bolstering governance via centralized reporting.</a:t>
            </a:r>
          </a:p>
          <a:p>
            <a:pPr marL="285750" indent="-285750">
              <a:buFont typeface="Arial" panose="020B0604020202020204" pitchFamily="34" charset="0"/>
              <a:buChar char="•"/>
            </a:pPr>
            <a:r>
              <a:rPr lang="en-US" sz="1320" kern="0" dirty="0">
                <a:solidFill>
                  <a:srgbClr val="000000"/>
                </a:solidFill>
              </a:rPr>
              <a:t>Optimization: Transforming legacy technical debt.</a:t>
            </a:r>
          </a:p>
          <a:p>
            <a:pPr defTabSz="548474">
              <a:defRPr sz="1800" b="0" i="0" u="none" strike="noStrike" kern="0" cap="none" spc="0" baseline="0">
                <a:solidFill>
                  <a:srgbClr val="000000"/>
                </a:solidFill>
                <a:uFillTx/>
              </a:defRPr>
            </a:pPr>
            <a:endParaRPr lang="en-US" sz="1200" dirty="0"/>
          </a:p>
          <a:p>
            <a:pPr defTabSz="548474">
              <a:defRPr sz="1800" b="0" i="0" u="none" strike="noStrike" kern="0" cap="none" spc="0" baseline="0">
                <a:solidFill>
                  <a:srgbClr val="000000"/>
                </a:solidFill>
                <a:uFillTx/>
              </a:defRPr>
            </a:pPr>
            <a:r>
              <a:rPr lang="en-US" sz="1400" b="1" dirty="0"/>
              <a:t>Solution:</a:t>
            </a:r>
          </a:p>
          <a:p>
            <a:pPr defTabSz="548474">
              <a:defRPr sz="1800" b="0" i="0" u="none" strike="noStrike" kern="0" cap="none" spc="0" baseline="0">
                <a:solidFill>
                  <a:srgbClr val="000000"/>
                </a:solidFill>
                <a:uFillTx/>
              </a:defRPr>
            </a:pPr>
            <a:r>
              <a:rPr lang="en-US" sz="1200" kern="0" dirty="0">
                <a:solidFill>
                  <a:srgbClr val="000000"/>
                </a:solidFill>
              </a:rPr>
              <a:t>Migrate existing Alteryx workflows to Qlik Sense application in the enterprise reporting repository leveraging AI augmented Python tools</a:t>
            </a:r>
            <a:r>
              <a:rPr lang="en-US" sz="1200" kern="0" dirty="0"/>
              <a:t>.</a:t>
            </a:r>
          </a:p>
          <a:p>
            <a:pPr defTabSz="548474">
              <a:defRPr sz="1800" b="0" i="0" u="none" strike="noStrike" kern="0" cap="none" spc="0" baseline="0">
                <a:solidFill>
                  <a:srgbClr val="000000"/>
                </a:solidFill>
                <a:uFillTx/>
              </a:defRPr>
            </a:pPr>
            <a:endParaRPr lang="en-US" sz="1200" b="1" dirty="0"/>
          </a:p>
          <a:p>
            <a:pPr defTabSz="548474">
              <a:defRPr sz="1800" b="0" i="0" u="none" strike="noStrike" kern="0" cap="none" spc="0" baseline="0">
                <a:solidFill>
                  <a:srgbClr val="000000"/>
                </a:solidFill>
                <a:uFillTx/>
              </a:defRPr>
            </a:pPr>
            <a:r>
              <a:rPr lang="en-US" sz="1440" b="1" dirty="0"/>
              <a:t>Key Challenges:</a:t>
            </a:r>
          </a:p>
          <a:p>
            <a:pPr marL="342900" indent="-342900" defTabSz="548474">
              <a:buFont typeface="Arial" panose="020B0604020202020204" pitchFamily="34" charset="0"/>
              <a:buChar char="•"/>
              <a:defRPr sz="1800" b="0" i="0" u="none" strike="noStrike" kern="0" cap="none" spc="0" baseline="0">
                <a:solidFill>
                  <a:srgbClr val="000000"/>
                </a:solidFill>
                <a:uFillTx/>
              </a:defRPr>
            </a:pPr>
            <a:r>
              <a:rPr lang="en-US" sz="1320" dirty="0"/>
              <a:t>Multiple sources: Data Lake, Google documents.</a:t>
            </a:r>
          </a:p>
          <a:p>
            <a:pPr marL="342900" indent="-342900" defTabSz="548474">
              <a:buFont typeface="Arial" panose="020B0604020202020204" pitchFamily="34" charset="0"/>
              <a:buChar char="•"/>
              <a:defRPr sz="1800" b="0" i="0" u="none" strike="noStrike" kern="0" cap="none" spc="0" baseline="0">
                <a:solidFill>
                  <a:srgbClr val="000000"/>
                </a:solidFill>
                <a:uFillTx/>
              </a:defRPr>
            </a:pPr>
            <a:r>
              <a:rPr lang="en-US" sz="1320" dirty="0"/>
              <a:t>Complex calculation logic: Many branches following different filtering and editing paths to multiple outputs. </a:t>
            </a:r>
          </a:p>
          <a:p>
            <a:pPr marL="342900" indent="-342900" defTabSz="548474">
              <a:buFont typeface="Arial" panose="020B0604020202020204" pitchFamily="34" charset="0"/>
              <a:buChar char="•"/>
              <a:defRPr sz="1800" b="0" i="0" u="none" strike="noStrike" kern="0" cap="none" spc="0" baseline="0">
                <a:solidFill>
                  <a:srgbClr val="000000"/>
                </a:solidFill>
                <a:uFillTx/>
              </a:defRPr>
            </a:pPr>
            <a:r>
              <a:rPr lang="en-US" sz="1320" kern="0" dirty="0">
                <a:solidFill>
                  <a:srgbClr val="000000"/>
                </a:solidFill>
              </a:rPr>
              <a:t>Inherited legacy workflows characterized by dense web-like connections, overlapping and confusing.</a:t>
            </a:r>
            <a:endParaRPr lang="en-US" sz="1320" dirty="0"/>
          </a:p>
          <a:p>
            <a:pPr defTabSz="548474">
              <a:defRPr sz="1800" b="0" i="0" u="none" strike="noStrike" kern="0" cap="none" spc="0" baseline="0">
                <a:solidFill>
                  <a:srgbClr val="000000"/>
                </a:solidFill>
                <a:uFillTx/>
              </a:defRPr>
            </a:pPr>
            <a:endParaRPr lang="en-US" sz="1200" b="1" dirty="0"/>
          </a:p>
          <a:p>
            <a:pPr defTabSz="548474">
              <a:defRPr sz="1800" b="0" i="0" u="none" strike="noStrike" kern="0" cap="none" spc="0" baseline="0">
                <a:solidFill>
                  <a:srgbClr val="000000"/>
                </a:solidFill>
                <a:uFillTx/>
              </a:defRPr>
            </a:pPr>
            <a:endParaRPr lang="en-US" sz="1200" dirty="0"/>
          </a:p>
        </p:txBody>
      </p:sp>
      <p:sp>
        <p:nvSpPr>
          <p:cNvPr id="22" name="Rectangle 21">
            <a:extLst>
              <a:ext uri="{FF2B5EF4-FFF2-40B4-BE49-F238E27FC236}">
                <a16:creationId xmlns:a16="http://schemas.microsoft.com/office/drawing/2014/main" id="{9C2BA9EA-2D72-AFAE-13B7-1CBDA5E3822F}"/>
              </a:ext>
            </a:extLst>
          </p:cNvPr>
          <p:cNvSpPr/>
          <p:nvPr/>
        </p:nvSpPr>
        <p:spPr>
          <a:xfrm>
            <a:off x="1476655" y="1085308"/>
            <a:ext cx="1519749" cy="295466"/>
          </a:xfrm>
          <a:prstGeom prst="rect">
            <a:avLst/>
          </a:prstGeom>
          <a:solidFill>
            <a:srgbClr val="FFFFFF"/>
          </a:solidFill>
          <a:ln cap="flat">
            <a:noFill/>
            <a:prstDash val="solid"/>
          </a:ln>
        </p:spPr>
        <p:txBody>
          <a:bodyPr vert="horz" wrap="square" lIns="54852" tIns="0" rIns="54852" bIns="0" anchor="ctr" anchorCtr="0" compatLnSpc="1">
            <a:spAutoFit/>
          </a:bodyPr>
          <a:lstStyle/>
          <a:p>
            <a:pPr defTabSz="548474">
              <a:defRPr sz="1800" b="0" i="0" u="none" strike="noStrike" kern="0" cap="none" spc="0" baseline="0">
                <a:solidFill>
                  <a:srgbClr val="000000"/>
                </a:solidFill>
                <a:uFillTx/>
              </a:defRPr>
            </a:pPr>
            <a:r>
              <a:rPr lang="en-US" sz="1920" b="1" dirty="0">
                <a:solidFill>
                  <a:srgbClr val="0080CB"/>
                </a:solidFill>
                <a:latin typeface="+mj-lt"/>
              </a:rPr>
              <a:t>SUMMARY </a:t>
            </a:r>
          </a:p>
        </p:txBody>
      </p:sp>
      <p:sp>
        <p:nvSpPr>
          <p:cNvPr id="10" name="TextBox 9">
            <a:extLst>
              <a:ext uri="{FF2B5EF4-FFF2-40B4-BE49-F238E27FC236}">
                <a16:creationId xmlns:a16="http://schemas.microsoft.com/office/drawing/2014/main" id="{8A7671B2-B0FA-3E98-2A30-F07F1DBBC405}"/>
              </a:ext>
            </a:extLst>
          </p:cNvPr>
          <p:cNvSpPr txBox="1"/>
          <p:nvPr/>
        </p:nvSpPr>
        <p:spPr>
          <a:xfrm>
            <a:off x="1017141" y="5888219"/>
            <a:ext cx="10058400" cy="539700"/>
          </a:xfrm>
          <a:prstGeom prst="rect">
            <a:avLst/>
          </a:prstGeom>
          <a:noFill/>
        </p:spPr>
        <p:txBody>
          <a:bodyPr wrap="square">
            <a:spAutoFit/>
          </a:bodyPr>
          <a:lstStyle/>
          <a:p>
            <a:pPr marL="0" marR="0">
              <a:lnSpc>
                <a:spcPct val="115000"/>
              </a:lnSpc>
              <a:spcAft>
                <a:spcPts val="800"/>
              </a:spcAft>
              <a:buNone/>
            </a:pPr>
            <a:r>
              <a:rPr lang="en-US" sz="1320" kern="0" dirty="0">
                <a:solidFill>
                  <a:srgbClr val="000000"/>
                </a:solidFill>
              </a:rPr>
              <a:t>For the most part, these migrations were straightforward "lifts" because the workflows were uncomplicated. However, a number of these legacy processes were complex.</a:t>
            </a:r>
          </a:p>
        </p:txBody>
      </p:sp>
    </p:spTree>
    <p:extLst>
      <p:ext uri="{BB962C8B-B14F-4D97-AF65-F5344CB8AC3E}">
        <p14:creationId xmlns:p14="http://schemas.microsoft.com/office/powerpoint/2010/main" val="39082316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BCEE267-BB51-FD2A-1E9C-04B982452B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457645-973D-B6BA-64A3-6D94012EB785}"/>
              </a:ext>
            </a:extLst>
          </p:cNvPr>
          <p:cNvSpPr>
            <a:spLocks noGrp="1"/>
          </p:cNvSpPr>
          <p:nvPr>
            <p:ph type="title" idx="4294967295"/>
          </p:nvPr>
        </p:nvSpPr>
        <p:spPr>
          <a:xfrm>
            <a:off x="914400" y="914400"/>
            <a:ext cx="11887200" cy="457200"/>
          </a:xfrm>
          <a:prstGeom prst="rect">
            <a:avLst/>
          </a:prstGeom>
        </p:spPr>
        <p:txBody>
          <a:bodyPr/>
          <a:lstStyle/>
          <a:p>
            <a:r>
              <a:rPr lang="en-US" dirty="0"/>
              <a:t>Use Case Example Screenshot</a:t>
            </a:r>
          </a:p>
        </p:txBody>
      </p:sp>
      <p:sp>
        <p:nvSpPr>
          <p:cNvPr id="3" name="Slide Number Placeholder 2">
            <a:extLst>
              <a:ext uri="{FF2B5EF4-FFF2-40B4-BE49-F238E27FC236}">
                <a16:creationId xmlns:a16="http://schemas.microsoft.com/office/drawing/2014/main" id="{AE10EBE8-3C70-973C-08BB-73BCC814D742}"/>
              </a:ext>
            </a:extLst>
          </p:cNvPr>
          <p:cNvSpPr>
            <a:spLocks noGrp="1"/>
          </p:cNvSpPr>
          <p:nvPr>
            <p:ph type="sldNum" sz="quarter" idx="4294967295"/>
          </p:nvPr>
        </p:nvSpPr>
        <p:spPr>
          <a:xfrm>
            <a:off x="13714021" y="7620001"/>
            <a:ext cx="459180" cy="438150"/>
          </a:xfrm>
          <a:prstGeom prst="rect">
            <a:avLst/>
          </a:prstGeom>
        </p:spPr>
        <p:txBody>
          <a:bodyPr/>
          <a:lstStyle/>
          <a:p>
            <a:fld id="{3D4F4C84-0D31-A643-82AF-CFAC5D1B5615}" type="slidenum">
              <a:rPr lang="en-US" smtClean="0"/>
              <a:pPr/>
              <a:t>3</a:t>
            </a:fld>
            <a:endParaRPr lang="en-US"/>
          </a:p>
        </p:txBody>
      </p:sp>
      <p:sp>
        <p:nvSpPr>
          <p:cNvPr id="5" name="Rectangle 4">
            <a:extLst>
              <a:ext uri="{FF2B5EF4-FFF2-40B4-BE49-F238E27FC236}">
                <a16:creationId xmlns:a16="http://schemas.microsoft.com/office/drawing/2014/main" id="{3080048C-2212-3D88-F212-8034C49A4D54}"/>
              </a:ext>
            </a:extLst>
          </p:cNvPr>
          <p:cNvSpPr/>
          <p:nvPr/>
        </p:nvSpPr>
        <p:spPr>
          <a:xfrm>
            <a:off x="496572" y="1464504"/>
            <a:ext cx="11031032" cy="6035631"/>
          </a:xfrm>
          <a:prstGeom prst="rect">
            <a:avLst/>
          </a:prstGeom>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146266" tIns="73133" rIns="146266" bIns="73133" numCol="1" spcCol="0" rtlCol="0" fromWordArt="0" anchor="ctr" anchorCtr="0" forceAA="0" compatLnSpc="1">
            <a:prstTxWarp prst="textNoShape">
              <a:avLst/>
            </a:prstTxWarp>
            <a:noAutofit/>
          </a:bodyPr>
          <a:lstStyle/>
          <a:p>
            <a:pPr defTabSz="1462565" fontAlgn="base">
              <a:spcBef>
                <a:spcPct val="0"/>
              </a:spcBef>
              <a:spcAft>
                <a:spcPts val="960"/>
              </a:spcAft>
              <a:defRPr/>
            </a:pPr>
            <a:endParaRPr lang="en-US" sz="1760">
              <a:solidFill>
                <a:srgbClr val="F2F2F2">
                  <a:lumMod val="10000"/>
                </a:srgbClr>
              </a:solidFill>
              <a:latin typeface="Arial" panose="020B0604020202020204"/>
              <a:cs typeface="Calibri" panose="020F0502020204030204" pitchFamily="34" charset="0"/>
            </a:endParaRPr>
          </a:p>
        </p:txBody>
      </p:sp>
      <p:grpSp>
        <p:nvGrpSpPr>
          <p:cNvPr id="6" name="Group 5">
            <a:extLst>
              <a:ext uri="{FF2B5EF4-FFF2-40B4-BE49-F238E27FC236}">
                <a16:creationId xmlns:a16="http://schemas.microsoft.com/office/drawing/2014/main" id="{D4C96A7E-0011-4AAB-D2B2-72E251CD406C}"/>
              </a:ext>
            </a:extLst>
          </p:cNvPr>
          <p:cNvGrpSpPr/>
          <p:nvPr/>
        </p:nvGrpSpPr>
        <p:grpSpPr>
          <a:xfrm>
            <a:off x="11650894" y="1452622"/>
            <a:ext cx="2790846" cy="2370712"/>
            <a:chOff x="3904794" y="4002348"/>
            <a:chExt cx="1194502" cy="776969"/>
          </a:xfrm>
        </p:grpSpPr>
        <p:sp>
          <p:nvSpPr>
            <p:cNvPr id="7" name="Rectangle 6">
              <a:extLst>
                <a:ext uri="{FF2B5EF4-FFF2-40B4-BE49-F238E27FC236}">
                  <a16:creationId xmlns:a16="http://schemas.microsoft.com/office/drawing/2014/main" id="{E14FD8EA-7960-9925-BD65-DE213BDD3410}"/>
                </a:ext>
              </a:extLst>
            </p:cNvPr>
            <p:cNvSpPr/>
            <p:nvPr/>
          </p:nvSpPr>
          <p:spPr>
            <a:xfrm>
              <a:off x="3904794" y="4172921"/>
              <a:ext cx="1194502" cy="606396"/>
            </a:xfrm>
            <a:prstGeom prst="rect">
              <a:avLst/>
            </a:prstGeom>
            <a:ln w="38100"/>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146266" tIns="73133" rIns="146266" bIns="73133" numCol="1" spcCol="0" rtlCol="0" fromWordArt="0" anchor="ctr" anchorCtr="0" forceAA="0" compatLnSpc="1">
              <a:prstTxWarp prst="textNoShape">
                <a:avLst/>
              </a:prstTxWarp>
              <a:noAutofit/>
            </a:bodyPr>
            <a:lstStyle/>
            <a:p>
              <a:pPr algn="ctr" defTabSz="1462565" fontAlgn="base">
                <a:spcBef>
                  <a:spcPct val="0"/>
                </a:spcBef>
                <a:spcAft>
                  <a:spcPts val="960"/>
                </a:spcAft>
                <a:defRPr/>
              </a:pPr>
              <a:endParaRPr lang="en-US" sz="1280" b="1">
                <a:ln w="38100">
                  <a:solidFill>
                    <a:schemeClr val="tx2"/>
                  </a:solidFill>
                </a:ln>
                <a:solidFill>
                  <a:srgbClr val="757982">
                    <a:lumMod val="75000"/>
                  </a:srgbClr>
                </a:solidFill>
                <a:latin typeface="Arial" panose="020B0604020202020204"/>
                <a:cs typeface="Calibri" panose="020F0502020204030204" pitchFamily="34" charset="0"/>
              </a:endParaRPr>
            </a:p>
          </p:txBody>
        </p:sp>
        <p:sp>
          <p:nvSpPr>
            <p:cNvPr id="8" name="Rectangle 7">
              <a:extLst>
                <a:ext uri="{FF2B5EF4-FFF2-40B4-BE49-F238E27FC236}">
                  <a16:creationId xmlns:a16="http://schemas.microsoft.com/office/drawing/2014/main" id="{73E54350-1277-5C2E-A78E-9BB5D98841BE}"/>
                </a:ext>
              </a:extLst>
            </p:cNvPr>
            <p:cNvSpPr/>
            <p:nvPr/>
          </p:nvSpPr>
          <p:spPr>
            <a:xfrm>
              <a:off x="4086052" y="4002347"/>
              <a:ext cx="837705" cy="339477"/>
            </a:xfrm>
            <a:prstGeom prst="rect">
              <a:avLst/>
            </a:prstGeom>
            <a:solidFill>
              <a:schemeClr val="bg1"/>
            </a:solidFill>
            <a:ln w="381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46266" tIns="73133" rIns="146266" bIns="73133" numCol="1" spcCol="0" rtlCol="0" fromWordArt="0" anchor="ctr" anchorCtr="0" forceAA="0" compatLnSpc="1">
              <a:prstTxWarp prst="textNoShape">
                <a:avLst/>
              </a:prstTxWarp>
              <a:noAutofit/>
            </a:bodyPr>
            <a:lstStyle/>
            <a:p>
              <a:pPr algn="ctr" defTabSz="1462565" fontAlgn="base">
                <a:spcBef>
                  <a:spcPct val="0"/>
                </a:spcBef>
                <a:spcAft>
                  <a:spcPts val="960"/>
                </a:spcAft>
                <a:defRPr/>
              </a:pPr>
              <a:r>
                <a:rPr lang="en-US" sz="1280" b="1" dirty="0">
                  <a:solidFill>
                    <a:srgbClr val="00263E"/>
                  </a:solidFill>
                  <a:latin typeface="Arial" panose="020B0604020202020204"/>
                  <a:cs typeface="Calibri"/>
                </a:rPr>
                <a:t>Data Inputs</a:t>
              </a:r>
            </a:p>
          </p:txBody>
        </p:sp>
      </p:grpSp>
      <p:grpSp>
        <p:nvGrpSpPr>
          <p:cNvPr id="9" name="Group 8">
            <a:extLst>
              <a:ext uri="{FF2B5EF4-FFF2-40B4-BE49-F238E27FC236}">
                <a16:creationId xmlns:a16="http://schemas.microsoft.com/office/drawing/2014/main" id="{9BD58228-3864-CB64-BF22-59156F001FF4}"/>
              </a:ext>
            </a:extLst>
          </p:cNvPr>
          <p:cNvGrpSpPr/>
          <p:nvPr/>
        </p:nvGrpSpPr>
        <p:grpSpPr>
          <a:xfrm>
            <a:off x="11650895" y="4282251"/>
            <a:ext cx="2790846" cy="2909659"/>
            <a:chOff x="2877273" y="4013298"/>
            <a:chExt cx="1188754" cy="781111"/>
          </a:xfrm>
        </p:grpSpPr>
        <p:sp>
          <p:nvSpPr>
            <p:cNvPr id="10" name="Rectangle 9">
              <a:extLst>
                <a:ext uri="{FF2B5EF4-FFF2-40B4-BE49-F238E27FC236}">
                  <a16:creationId xmlns:a16="http://schemas.microsoft.com/office/drawing/2014/main" id="{8886E012-9C02-A3E0-A990-FA54BA116A88}"/>
                </a:ext>
              </a:extLst>
            </p:cNvPr>
            <p:cNvSpPr/>
            <p:nvPr/>
          </p:nvSpPr>
          <p:spPr>
            <a:xfrm>
              <a:off x="2877273" y="4188010"/>
              <a:ext cx="1188754" cy="606399"/>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46266" tIns="73133" rIns="146266" bIns="73133" numCol="1" spcCol="0" rtlCol="0" fromWordArt="0" anchor="ctr" anchorCtr="0" forceAA="0" compatLnSpc="1">
              <a:prstTxWarp prst="textNoShape">
                <a:avLst/>
              </a:prstTxWarp>
              <a:noAutofit/>
            </a:bodyPr>
            <a:lstStyle/>
            <a:p>
              <a:pPr algn="ctr" defTabSz="731063" fontAlgn="base">
                <a:spcBef>
                  <a:spcPct val="0"/>
                </a:spcBef>
                <a:spcAft>
                  <a:spcPct val="0"/>
                </a:spcAft>
                <a:defRPr/>
              </a:pPr>
              <a:endParaRPr lang="en-US" sz="1280" b="1">
                <a:solidFill>
                  <a:srgbClr val="757982">
                    <a:lumMod val="75000"/>
                  </a:srgbClr>
                </a:solidFill>
                <a:latin typeface="Arial" panose="020B0604020202020204"/>
                <a:cs typeface="Calibri" panose="020F0502020204030204" pitchFamily="34" charset="0"/>
              </a:endParaRPr>
            </a:p>
          </p:txBody>
        </p:sp>
        <p:sp>
          <p:nvSpPr>
            <p:cNvPr id="11" name="Rectangle 10">
              <a:extLst>
                <a:ext uri="{FF2B5EF4-FFF2-40B4-BE49-F238E27FC236}">
                  <a16:creationId xmlns:a16="http://schemas.microsoft.com/office/drawing/2014/main" id="{8E92B098-7EA0-CF91-D06C-2C65DD5E3DDF}"/>
                </a:ext>
              </a:extLst>
            </p:cNvPr>
            <p:cNvSpPr/>
            <p:nvPr/>
          </p:nvSpPr>
          <p:spPr>
            <a:xfrm>
              <a:off x="3060614" y="4013298"/>
              <a:ext cx="837705" cy="346296"/>
            </a:xfrm>
            <a:prstGeom prst="rect">
              <a:avLst/>
            </a:prstGeom>
            <a:solidFill>
              <a:schemeClr val="bg1"/>
            </a:solidFill>
            <a:ln w="381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46266" tIns="73133" rIns="146266" bIns="73133" numCol="1" spcCol="0" rtlCol="0" fromWordArt="0" anchor="ctr" anchorCtr="0" forceAA="0" compatLnSpc="1">
              <a:prstTxWarp prst="textNoShape">
                <a:avLst/>
              </a:prstTxWarp>
              <a:noAutofit/>
            </a:bodyPr>
            <a:lstStyle/>
            <a:p>
              <a:pPr algn="ctr" defTabSz="1462565" fontAlgn="base">
                <a:spcBef>
                  <a:spcPct val="0"/>
                </a:spcBef>
                <a:spcAft>
                  <a:spcPts val="960"/>
                </a:spcAft>
                <a:defRPr/>
              </a:pPr>
              <a:r>
                <a:rPr lang="en-US" sz="1280" b="1" dirty="0">
                  <a:solidFill>
                    <a:srgbClr val="00263E"/>
                  </a:solidFill>
                  <a:latin typeface="Arial" panose="020B0604020202020204"/>
                  <a:cs typeface="Calibri" panose="020F0502020204030204" pitchFamily="34" charset="0"/>
                </a:rPr>
                <a:t>Data Outputs</a:t>
              </a:r>
            </a:p>
          </p:txBody>
        </p:sp>
      </p:grpSp>
      <p:pic>
        <p:nvPicPr>
          <p:cNvPr id="4" name="Picture 3">
            <a:extLst>
              <a:ext uri="{FF2B5EF4-FFF2-40B4-BE49-F238E27FC236}">
                <a16:creationId xmlns:a16="http://schemas.microsoft.com/office/drawing/2014/main" id="{40769800-D692-29A7-5A07-2C023C51EB60}"/>
              </a:ext>
            </a:extLst>
          </p:cNvPr>
          <p:cNvPicPr>
            <a:picLocks noChangeAspect="1"/>
          </p:cNvPicPr>
          <p:nvPr/>
        </p:nvPicPr>
        <p:blipFill>
          <a:blip r:embed="rId2"/>
          <a:stretch>
            <a:fillRect/>
          </a:stretch>
        </p:blipFill>
        <p:spPr>
          <a:xfrm>
            <a:off x="914401" y="1828557"/>
            <a:ext cx="10418608" cy="5486644"/>
          </a:xfrm>
          <a:prstGeom prst="rect">
            <a:avLst/>
          </a:prstGeom>
        </p:spPr>
      </p:pic>
      <p:sp>
        <p:nvSpPr>
          <p:cNvPr id="27" name="TextBox 26">
            <a:extLst>
              <a:ext uri="{FF2B5EF4-FFF2-40B4-BE49-F238E27FC236}">
                <a16:creationId xmlns:a16="http://schemas.microsoft.com/office/drawing/2014/main" id="{595171AE-8129-33CE-4ECB-1CFFCE875670}"/>
              </a:ext>
            </a:extLst>
          </p:cNvPr>
          <p:cNvSpPr txBox="1"/>
          <p:nvPr/>
        </p:nvSpPr>
        <p:spPr>
          <a:xfrm>
            <a:off x="11750838" y="5219350"/>
            <a:ext cx="2422363" cy="1169551"/>
          </a:xfrm>
          <a:prstGeom prst="rect">
            <a:avLst/>
          </a:prstGeom>
          <a:noFill/>
        </p:spPr>
        <p:txBody>
          <a:bodyPr wrap="square">
            <a:spAutoFit/>
          </a:bodyPr>
          <a:lstStyle/>
          <a:p>
            <a:r>
              <a:rPr lang="en-US" sz="1400" dirty="0"/>
              <a:t>15 Google sheet outputs</a:t>
            </a:r>
          </a:p>
          <a:p>
            <a:endParaRPr lang="en-US" sz="1400" dirty="0"/>
          </a:p>
          <a:p>
            <a:r>
              <a:rPr lang="en-US" sz="1400" dirty="0"/>
              <a:t>The arrows indicate specific nodes used as examples in this document</a:t>
            </a:r>
          </a:p>
        </p:txBody>
      </p:sp>
      <p:sp>
        <p:nvSpPr>
          <p:cNvPr id="41" name="TextBox 40">
            <a:extLst>
              <a:ext uri="{FF2B5EF4-FFF2-40B4-BE49-F238E27FC236}">
                <a16:creationId xmlns:a16="http://schemas.microsoft.com/office/drawing/2014/main" id="{060350A6-AD24-8AF0-A664-C25A0391C860}"/>
              </a:ext>
            </a:extLst>
          </p:cNvPr>
          <p:cNvSpPr txBox="1"/>
          <p:nvPr/>
        </p:nvSpPr>
        <p:spPr>
          <a:xfrm>
            <a:off x="11750838" y="2363056"/>
            <a:ext cx="2547894" cy="1169551"/>
          </a:xfrm>
          <a:prstGeom prst="rect">
            <a:avLst/>
          </a:prstGeom>
          <a:noFill/>
        </p:spPr>
        <p:txBody>
          <a:bodyPr wrap="square">
            <a:spAutoFit/>
          </a:bodyPr>
          <a:lstStyle/>
          <a:p>
            <a:r>
              <a:rPr lang="en-US" sz="1400" dirty="0"/>
              <a:t>4 </a:t>
            </a:r>
            <a:r>
              <a:rPr lang="en-US" sz="1400" dirty="0" err="1"/>
              <a:t>Datalake</a:t>
            </a:r>
            <a:r>
              <a:rPr lang="en-US" sz="1400" dirty="0"/>
              <a:t> SQL query inputs</a:t>
            </a:r>
          </a:p>
          <a:p>
            <a:r>
              <a:rPr lang="en-US" sz="1400" dirty="0"/>
              <a:t>4 Google sheet inputs</a:t>
            </a:r>
          </a:p>
          <a:p>
            <a:endParaRPr lang="en-US" sz="1400" dirty="0"/>
          </a:p>
          <a:p>
            <a:r>
              <a:rPr lang="en-US" sz="1400" dirty="0"/>
              <a:t>These inputs were scattered throughout the Workflow</a:t>
            </a:r>
          </a:p>
        </p:txBody>
      </p:sp>
    </p:spTree>
    <p:extLst>
      <p:ext uri="{BB962C8B-B14F-4D97-AF65-F5344CB8AC3E}">
        <p14:creationId xmlns:p14="http://schemas.microsoft.com/office/powerpoint/2010/main" val="5115989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8EA8E358-2B9B-C352-581A-89F34203B68D}"/>
              </a:ext>
            </a:extLst>
          </p:cNvPr>
          <p:cNvSpPr txBox="1"/>
          <p:nvPr/>
        </p:nvSpPr>
        <p:spPr>
          <a:xfrm>
            <a:off x="852755" y="588573"/>
            <a:ext cx="7315200" cy="369332"/>
          </a:xfrm>
          <a:prstGeom prst="rect">
            <a:avLst/>
          </a:prstGeom>
          <a:noFill/>
        </p:spPr>
        <p:txBody>
          <a:bodyPr wrap="square">
            <a:spAutoFit/>
          </a:bodyPr>
          <a:lstStyle/>
          <a:p>
            <a:r>
              <a:rPr lang="en-US" sz="1800" b="1" dirty="0">
                <a:effectLst/>
                <a:latin typeface="Aptos" panose="020B0004020202020204" pitchFamily="34" charset="0"/>
                <a:ea typeface="Aptos" panose="020B0004020202020204" pitchFamily="34" charset="0"/>
                <a:cs typeface="Times New Roman" panose="02020603050405020304" pitchFamily="18" charset="0"/>
              </a:rPr>
              <a:t>Phase 1: Untangling the Logic</a:t>
            </a:r>
            <a:endParaRPr lang="en-US" dirty="0"/>
          </a:p>
        </p:txBody>
      </p:sp>
      <p:sp>
        <p:nvSpPr>
          <p:cNvPr id="11" name="TextBox 10">
            <a:extLst>
              <a:ext uri="{FF2B5EF4-FFF2-40B4-BE49-F238E27FC236}">
                <a16:creationId xmlns:a16="http://schemas.microsoft.com/office/drawing/2014/main" id="{F047B473-6683-D148-E84F-D676B4BA88FB}"/>
              </a:ext>
            </a:extLst>
          </p:cNvPr>
          <p:cNvSpPr txBox="1"/>
          <p:nvPr/>
        </p:nvSpPr>
        <p:spPr>
          <a:xfrm>
            <a:off x="852755" y="957905"/>
            <a:ext cx="10058400" cy="1006879"/>
          </a:xfrm>
          <a:prstGeom prst="rect">
            <a:avLst/>
          </a:prstGeom>
          <a:noFill/>
        </p:spPr>
        <p:txBody>
          <a:bodyPr wrap="square">
            <a:spAutoFit/>
          </a:bodyPr>
          <a:lstStyle/>
          <a:p>
            <a:pPr>
              <a:lnSpc>
                <a:spcPct val="115000"/>
              </a:lnSpc>
              <a:spcAft>
                <a:spcPts val="800"/>
              </a:spcAft>
            </a:pPr>
            <a:r>
              <a:rPr lang="en-US" sz="1320" kern="0" dirty="0">
                <a:solidFill>
                  <a:srgbClr val="000000"/>
                </a:solidFill>
              </a:rPr>
              <a:t>To convert this into a clean Qlik Sense application, I first had to unravel the logic and separate the specific branches feeding each output. The first step was to develop a Python script that could isolate the paths for each individual output into its own separate Alteryx workflow .</a:t>
            </a:r>
            <a:r>
              <a:rPr lang="en-US" sz="1320" kern="0" dirty="0" err="1">
                <a:solidFill>
                  <a:srgbClr val="000000"/>
                </a:solidFill>
              </a:rPr>
              <a:t>yxmd</a:t>
            </a:r>
            <a:r>
              <a:rPr lang="en-US" sz="1320" kern="0" dirty="0">
                <a:solidFill>
                  <a:srgbClr val="000000"/>
                </a:solidFill>
              </a:rPr>
              <a:t> file by manipulating the underlying XML of the Alteryx source file. This allowed me to strip away the secondary clutter and reverse-engineer the core business logic of each branch without the visual "noise" of the original file. </a:t>
            </a:r>
          </a:p>
        </p:txBody>
      </p:sp>
      <p:sp>
        <p:nvSpPr>
          <p:cNvPr id="15" name="TextBox 14">
            <a:extLst>
              <a:ext uri="{FF2B5EF4-FFF2-40B4-BE49-F238E27FC236}">
                <a16:creationId xmlns:a16="http://schemas.microsoft.com/office/drawing/2014/main" id="{2713AC58-D2FE-AB15-DC26-2C5E68D3C47E}"/>
              </a:ext>
            </a:extLst>
          </p:cNvPr>
          <p:cNvSpPr txBox="1"/>
          <p:nvPr/>
        </p:nvSpPr>
        <p:spPr>
          <a:xfrm>
            <a:off x="852755" y="2181061"/>
            <a:ext cx="7315200" cy="306109"/>
          </a:xfrm>
          <a:prstGeom prst="rect">
            <a:avLst/>
          </a:prstGeom>
          <a:noFill/>
        </p:spPr>
        <p:txBody>
          <a:bodyPr wrap="square">
            <a:spAutoFit/>
          </a:bodyPr>
          <a:lstStyle/>
          <a:p>
            <a:pPr marL="0" marR="0">
              <a:lnSpc>
                <a:spcPct val="115000"/>
              </a:lnSpc>
              <a:spcAft>
                <a:spcPts val="800"/>
              </a:spcAft>
              <a:buNone/>
            </a:pPr>
            <a:r>
              <a:rPr lang="en-US" sz="1320" kern="0" dirty="0">
                <a:solidFill>
                  <a:srgbClr val="000000"/>
                </a:solidFill>
              </a:rPr>
              <a:t>Below are two of the resulting "clean" branches:</a:t>
            </a:r>
          </a:p>
        </p:txBody>
      </p:sp>
      <p:pic>
        <p:nvPicPr>
          <p:cNvPr id="16" name="Picture 15">
            <a:extLst>
              <a:ext uri="{FF2B5EF4-FFF2-40B4-BE49-F238E27FC236}">
                <a16:creationId xmlns:a16="http://schemas.microsoft.com/office/drawing/2014/main" id="{5C5D314B-D5E5-53A7-AB70-66CB6C2B253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900248" y="2787986"/>
            <a:ext cx="5923787" cy="1789577"/>
          </a:xfrm>
          <a:prstGeom prst="rect">
            <a:avLst/>
          </a:prstGeom>
          <a:noFill/>
          <a:ln>
            <a:noFill/>
          </a:ln>
        </p:spPr>
      </p:pic>
      <p:pic>
        <p:nvPicPr>
          <p:cNvPr id="17" name="Picture 16">
            <a:extLst>
              <a:ext uri="{FF2B5EF4-FFF2-40B4-BE49-F238E27FC236}">
                <a16:creationId xmlns:a16="http://schemas.microsoft.com/office/drawing/2014/main" id="{333677D2-42CA-8A8E-5737-0EF8B2562B6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900248" y="4878380"/>
            <a:ext cx="5943600" cy="239331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B7C606E-E747-9655-B9E3-CBEFA0A1B794}"/>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7189BDDB-ACD2-3D8E-4AB0-5B22CA7A67CA}"/>
              </a:ext>
            </a:extLst>
          </p:cNvPr>
          <p:cNvSpPr txBox="1"/>
          <p:nvPr/>
        </p:nvSpPr>
        <p:spPr>
          <a:xfrm>
            <a:off x="852755" y="588573"/>
            <a:ext cx="7315200" cy="369332"/>
          </a:xfrm>
          <a:prstGeom prst="rect">
            <a:avLst/>
          </a:prstGeom>
          <a:noFill/>
        </p:spPr>
        <p:txBody>
          <a:bodyPr wrap="square">
            <a:spAutoFit/>
          </a:bodyPr>
          <a:lstStyle/>
          <a:p>
            <a:r>
              <a:rPr lang="en-US" b="1" dirty="0"/>
              <a:t>Phase 2: Visual Optimization</a:t>
            </a:r>
            <a:endParaRPr lang="en-US" dirty="0"/>
          </a:p>
        </p:txBody>
      </p:sp>
      <p:sp>
        <p:nvSpPr>
          <p:cNvPr id="11" name="TextBox 10">
            <a:extLst>
              <a:ext uri="{FF2B5EF4-FFF2-40B4-BE49-F238E27FC236}">
                <a16:creationId xmlns:a16="http://schemas.microsoft.com/office/drawing/2014/main" id="{538C5A9F-ED13-306C-B950-CCFD895E145F}"/>
              </a:ext>
            </a:extLst>
          </p:cNvPr>
          <p:cNvSpPr txBox="1"/>
          <p:nvPr/>
        </p:nvSpPr>
        <p:spPr>
          <a:xfrm>
            <a:off x="852755" y="957905"/>
            <a:ext cx="10058400" cy="498598"/>
          </a:xfrm>
          <a:prstGeom prst="rect">
            <a:avLst/>
          </a:prstGeom>
          <a:noFill/>
        </p:spPr>
        <p:txBody>
          <a:bodyPr wrap="square">
            <a:spAutoFit/>
          </a:bodyPr>
          <a:lstStyle/>
          <a:p>
            <a:r>
              <a:rPr lang="en-US" sz="1320" kern="0" dirty="0">
                <a:solidFill>
                  <a:srgbClr val="000000"/>
                </a:solidFill>
              </a:rPr>
              <a:t>Once isolated, the workflows were still disorganized. I updated my Python script to programmatically rearrange the tool coordinates in the XML, enforcing a strict left-to-right flow pattern. This made the logic immediately more digestible.</a:t>
            </a:r>
          </a:p>
        </p:txBody>
      </p:sp>
      <p:sp>
        <p:nvSpPr>
          <p:cNvPr id="15" name="TextBox 14">
            <a:extLst>
              <a:ext uri="{FF2B5EF4-FFF2-40B4-BE49-F238E27FC236}">
                <a16:creationId xmlns:a16="http://schemas.microsoft.com/office/drawing/2014/main" id="{3CCB6A5C-9D33-4A73-B177-09A6EB8D04F8}"/>
              </a:ext>
            </a:extLst>
          </p:cNvPr>
          <p:cNvSpPr txBox="1"/>
          <p:nvPr/>
        </p:nvSpPr>
        <p:spPr>
          <a:xfrm>
            <a:off x="852755" y="1674140"/>
            <a:ext cx="7315200" cy="642292"/>
          </a:xfrm>
          <a:prstGeom prst="rect">
            <a:avLst/>
          </a:prstGeom>
          <a:noFill/>
        </p:spPr>
        <p:txBody>
          <a:bodyPr wrap="square">
            <a:spAutoFit/>
          </a:bodyPr>
          <a:lstStyle/>
          <a:p>
            <a:pPr>
              <a:lnSpc>
                <a:spcPct val="115000"/>
              </a:lnSpc>
              <a:spcAft>
                <a:spcPts val="800"/>
              </a:spcAft>
            </a:pPr>
            <a:r>
              <a:rPr lang="en-US" sz="1320" kern="0" dirty="0">
                <a:solidFill>
                  <a:srgbClr val="000000"/>
                </a:solidFill>
              </a:rPr>
              <a:t>Below are those same two branches with their new, optimized layouts:</a:t>
            </a:r>
          </a:p>
          <a:p>
            <a:pPr marL="0" marR="0">
              <a:lnSpc>
                <a:spcPct val="115000"/>
              </a:lnSpc>
              <a:spcAft>
                <a:spcPts val="800"/>
              </a:spcAft>
              <a:buNone/>
            </a:pPr>
            <a:endParaRPr lang="en-US" sz="1320" kern="0" dirty="0">
              <a:solidFill>
                <a:srgbClr val="000000"/>
              </a:solidFill>
            </a:endParaRPr>
          </a:p>
        </p:txBody>
      </p:sp>
      <p:pic>
        <p:nvPicPr>
          <p:cNvPr id="2" name="Picture 1">
            <a:extLst>
              <a:ext uri="{FF2B5EF4-FFF2-40B4-BE49-F238E27FC236}">
                <a16:creationId xmlns:a16="http://schemas.microsoft.com/office/drawing/2014/main" id="{013F1658-98C7-D544-5D7F-2AAB8C0DEC29}"/>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28458" y="2672527"/>
            <a:ext cx="11136570" cy="742438"/>
          </a:xfrm>
          <a:prstGeom prst="rect">
            <a:avLst/>
          </a:prstGeom>
          <a:noFill/>
          <a:ln>
            <a:noFill/>
          </a:ln>
        </p:spPr>
      </p:pic>
      <p:pic>
        <p:nvPicPr>
          <p:cNvPr id="3" name="Picture 2">
            <a:extLst>
              <a:ext uri="{FF2B5EF4-FFF2-40B4-BE49-F238E27FC236}">
                <a16:creationId xmlns:a16="http://schemas.microsoft.com/office/drawing/2014/main" id="{645707E6-7C22-BF7A-B914-7209E1A9FB9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85881" y="3846773"/>
            <a:ext cx="11279147" cy="2052178"/>
          </a:xfrm>
          <a:prstGeom prst="rect">
            <a:avLst/>
          </a:prstGeom>
          <a:noFill/>
          <a:ln>
            <a:noFill/>
          </a:ln>
        </p:spPr>
      </p:pic>
      <p:sp>
        <p:nvSpPr>
          <p:cNvPr id="5" name="TextBox 4">
            <a:extLst>
              <a:ext uri="{FF2B5EF4-FFF2-40B4-BE49-F238E27FC236}">
                <a16:creationId xmlns:a16="http://schemas.microsoft.com/office/drawing/2014/main" id="{04E233B7-1EE3-B811-0191-508399334A83}"/>
              </a:ext>
            </a:extLst>
          </p:cNvPr>
          <p:cNvSpPr txBox="1"/>
          <p:nvPr/>
        </p:nvSpPr>
        <p:spPr>
          <a:xfrm>
            <a:off x="724236" y="6039325"/>
            <a:ext cx="10186919" cy="773289"/>
          </a:xfrm>
          <a:prstGeom prst="rect">
            <a:avLst/>
          </a:prstGeom>
          <a:noFill/>
        </p:spPr>
        <p:txBody>
          <a:bodyPr wrap="square">
            <a:spAutoFit/>
          </a:bodyPr>
          <a:lstStyle/>
          <a:p>
            <a:pPr>
              <a:lnSpc>
                <a:spcPct val="115000"/>
              </a:lnSpc>
              <a:spcAft>
                <a:spcPts val="800"/>
              </a:spcAft>
            </a:pPr>
            <a:r>
              <a:rPr lang="en-US" sz="1320" kern="0" dirty="0">
                <a:solidFill>
                  <a:srgbClr val="000000"/>
                </a:solidFill>
              </a:rPr>
              <a:t>Python script I wrote had the option to retain the original Tool ID numbers or replace them with new Tool ID numbers from left to right. For this workflow I kept the original IDs so that I could easily trace logic back to the master file and, if needed, to recombine branches within the final Qlik Sense load script.</a:t>
            </a:r>
          </a:p>
        </p:txBody>
      </p:sp>
    </p:spTree>
    <p:extLst>
      <p:ext uri="{BB962C8B-B14F-4D97-AF65-F5344CB8AC3E}">
        <p14:creationId xmlns:p14="http://schemas.microsoft.com/office/powerpoint/2010/main" val="7709847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EC46981-4F47-2786-FD14-B4B49BB5AABB}"/>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F6D40D1E-AAC7-0B1E-2D92-BAD7FB842C11}"/>
              </a:ext>
            </a:extLst>
          </p:cNvPr>
          <p:cNvSpPr txBox="1"/>
          <p:nvPr/>
        </p:nvSpPr>
        <p:spPr>
          <a:xfrm>
            <a:off x="852755" y="588573"/>
            <a:ext cx="7315200" cy="369332"/>
          </a:xfrm>
          <a:prstGeom prst="rect">
            <a:avLst/>
          </a:prstGeom>
          <a:noFill/>
        </p:spPr>
        <p:txBody>
          <a:bodyPr wrap="square">
            <a:spAutoFit/>
          </a:bodyPr>
          <a:lstStyle/>
          <a:p>
            <a:r>
              <a:rPr lang="en-US" b="1" dirty="0"/>
              <a:t>Phase 3: Translating the Logic</a:t>
            </a:r>
            <a:endParaRPr lang="en-US" dirty="0"/>
          </a:p>
        </p:txBody>
      </p:sp>
      <p:sp>
        <p:nvSpPr>
          <p:cNvPr id="11" name="TextBox 10">
            <a:extLst>
              <a:ext uri="{FF2B5EF4-FFF2-40B4-BE49-F238E27FC236}">
                <a16:creationId xmlns:a16="http://schemas.microsoft.com/office/drawing/2014/main" id="{61DF4011-649D-0999-D560-5B3E9C1E9185}"/>
              </a:ext>
            </a:extLst>
          </p:cNvPr>
          <p:cNvSpPr txBox="1"/>
          <p:nvPr/>
        </p:nvSpPr>
        <p:spPr>
          <a:xfrm>
            <a:off x="852755" y="957905"/>
            <a:ext cx="10058400" cy="904863"/>
          </a:xfrm>
          <a:prstGeom prst="rect">
            <a:avLst/>
          </a:prstGeom>
          <a:noFill/>
        </p:spPr>
        <p:txBody>
          <a:bodyPr wrap="square">
            <a:spAutoFit/>
          </a:bodyPr>
          <a:lstStyle/>
          <a:p>
            <a:r>
              <a:rPr lang="en-US" sz="1320" kern="0" dirty="0">
                <a:solidFill>
                  <a:srgbClr val="000000"/>
                </a:solidFill>
              </a:rPr>
              <a:t>The final phase involved translating Alteryx formulas and filters into Qlik Sense load script commands. To accomplish this, I created another Python utility that parsed the entire workflow, extracted the logic from Formula and Filter tools, and converted the syntax. The resulting translations were stored in a mapping spreadsheet for validation.</a:t>
            </a:r>
          </a:p>
          <a:p>
            <a:endParaRPr lang="en-US" sz="1320" kern="0" dirty="0">
              <a:solidFill>
                <a:srgbClr val="000000"/>
              </a:solidFill>
            </a:endParaRPr>
          </a:p>
        </p:txBody>
      </p:sp>
      <p:sp>
        <p:nvSpPr>
          <p:cNvPr id="6" name="TextBox 5">
            <a:extLst>
              <a:ext uri="{FF2B5EF4-FFF2-40B4-BE49-F238E27FC236}">
                <a16:creationId xmlns:a16="http://schemas.microsoft.com/office/drawing/2014/main" id="{4B2C52FD-52E1-B536-F316-14961D9BDEEC}"/>
              </a:ext>
            </a:extLst>
          </p:cNvPr>
          <p:cNvSpPr txBox="1"/>
          <p:nvPr/>
        </p:nvSpPr>
        <p:spPr>
          <a:xfrm>
            <a:off x="852755" y="1862768"/>
            <a:ext cx="7315200" cy="361574"/>
          </a:xfrm>
          <a:prstGeom prst="rect">
            <a:avLst/>
          </a:prstGeom>
          <a:noFill/>
        </p:spPr>
        <p:txBody>
          <a:bodyPr wrap="square">
            <a:spAutoFit/>
          </a:bodyPr>
          <a:lstStyle/>
          <a:p>
            <a:pPr marL="0" marR="0">
              <a:lnSpc>
                <a:spcPct val="115000"/>
              </a:lnSpc>
              <a:spcAft>
                <a:spcPts val="800"/>
              </a:spcAft>
              <a:buNone/>
            </a:pPr>
            <a:r>
              <a:rPr lang="en-US" sz="1600" b="1" kern="100" dirty="0">
                <a:latin typeface="Aptos" panose="020B0004020202020204" pitchFamily="34" charset="0"/>
                <a:cs typeface="Times New Roman" panose="02020603050405020304" pitchFamily="18" charset="0"/>
              </a:rPr>
              <a:t>Example: Automated Logic Translation</a:t>
            </a:r>
          </a:p>
        </p:txBody>
      </p:sp>
      <p:sp>
        <p:nvSpPr>
          <p:cNvPr id="10" name="TextBox 9">
            <a:extLst>
              <a:ext uri="{FF2B5EF4-FFF2-40B4-BE49-F238E27FC236}">
                <a16:creationId xmlns:a16="http://schemas.microsoft.com/office/drawing/2014/main" id="{22ED34BA-BF30-71F1-5CA5-12AA63984F39}"/>
              </a:ext>
            </a:extLst>
          </p:cNvPr>
          <p:cNvSpPr txBox="1"/>
          <p:nvPr/>
        </p:nvSpPr>
        <p:spPr>
          <a:xfrm>
            <a:off x="852755" y="2232100"/>
            <a:ext cx="7315200" cy="361574"/>
          </a:xfrm>
          <a:prstGeom prst="rect">
            <a:avLst/>
          </a:prstGeom>
          <a:noFill/>
        </p:spPr>
        <p:txBody>
          <a:bodyPr wrap="square">
            <a:spAutoFit/>
          </a:bodyPr>
          <a:lstStyle/>
          <a:p>
            <a:pPr marL="0" marR="0">
              <a:lnSpc>
                <a:spcPct val="115000"/>
              </a:lnSpc>
              <a:spcAft>
                <a:spcPts val="800"/>
              </a:spcAft>
              <a:buNone/>
            </a:pPr>
            <a:r>
              <a:rPr lang="en-US" sz="1600" b="1" kern="100" dirty="0">
                <a:latin typeface="Aptos" panose="020B0004020202020204" pitchFamily="34" charset="0"/>
                <a:cs typeface="Times New Roman" panose="02020603050405020304" pitchFamily="18" charset="0"/>
              </a:rPr>
              <a:t>Original </a:t>
            </a:r>
            <a:r>
              <a:rPr lang="en-US" sz="1600" b="1" kern="100" dirty="0" err="1">
                <a:latin typeface="Aptos" panose="020B0004020202020204" pitchFamily="34" charset="0"/>
                <a:cs typeface="Times New Roman" panose="02020603050405020304" pitchFamily="18" charset="0"/>
              </a:rPr>
              <a:t>Altreryx</a:t>
            </a:r>
            <a:r>
              <a:rPr lang="en-US" sz="1600" b="1" kern="100" dirty="0">
                <a:latin typeface="Aptos" panose="020B0004020202020204" pitchFamily="34" charset="0"/>
                <a:cs typeface="Times New Roman" panose="02020603050405020304" pitchFamily="18" charset="0"/>
              </a:rPr>
              <a:t> Formula:</a:t>
            </a:r>
          </a:p>
        </p:txBody>
      </p:sp>
      <p:sp>
        <p:nvSpPr>
          <p:cNvPr id="12" name="TextBox 11">
            <a:extLst>
              <a:ext uri="{FF2B5EF4-FFF2-40B4-BE49-F238E27FC236}">
                <a16:creationId xmlns:a16="http://schemas.microsoft.com/office/drawing/2014/main" id="{9098EE57-A35F-EB1E-BDAC-B83908BE42CC}"/>
              </a:ext>
            </a:extLst>
          </p:cNvPr>
          <p:cNvSpPr txBox="1"/>
          <p:nvPr/>
        </p:nvSpPr>
        <p:spPr>
          <a:xfrm>
            <a:off x="852755" y="2601432"/>
            <a:ext cx="10787865" cy="3951851"/>
          </a:xfrm>
          <a:prstGeom prst="rect">
            <a:avLst/>
          </a:prstGeom>
          <a:noFill/>
        </p:spPr>
        <p:txBody>
          <a:bodyPr wrap="square">
            <a:spAutoFit/>
          </a:bodyPr>
          <a:lstStyle/>
          <a:p>
            <a:r>
              <a:rPr lang="en-US" sz="1320" kern="100" dirty="0">
                <a:latin typeface="Aptos" panose="020B0004020202020204" pitchFamily="34" charset="0"/>
                <a:cs typeface="Times New Roman" panose="02020603050405020304" pitchFamily="18" charset="0"/>
              </a:rPr>
              <a:t>if [</a:t>
            </a:r>
            <a:r>
              <a:rPr lang="en-US" sz="1320" kern="100" dirty="0" err="1">
                <a:latin typeface="Aptos" panose="020B0004020202020204" pitchFamily="34" charset="0"/>
                <a:cs typeface="Times New Roman" panose="02020603050405020304" pitchFamily="18" charset="0"/>
              </a:rPr>
              <a:t>contr_status</a:t>
            </a:r>
            <a:r>
              <a:rPr lang="en-US" sz="1320" kern="100" dirty="0">
                <a:latin typeface="Aptos" panose="020B0004020202020204" pitchFamily="34" charset="0"/>
                <a:cs typeface="Times New Roman" panose="02020603050405020304" pitchFamily="18" charset="0"/>
              </a:rPr>
              <a:t>] not in ('Contract Complete') then "OK" elseif</a:t>
            </a:r>
          </a:p>
          <a:p>
            <a:r>
              <a:rPr lang="en-US" sz="1320" kern="100" dirty="0" err="1">
                <a:latin typeface="Aptos" panose="020B0004020202020204" pitchFamily="34" charset="0"/>
                <a:cs typeface="Times New Roman" panose="02020603050405020304" pitchFamily="18" charset="0"/>
              </a:rPr>
              <a:t>IsEmpty</a:t>
            </a:r>
            <a:r>
              <a:rPr lang="en-US" sz="1320" kern="100" dirty="0">
                <a:latin typeface="Aptos" panose="020B0004020202020204" pitchFamily="34" charset="0"/>
                <a:cs typeface="Times New Roman" panose="02020603050405020304" pitchFamily="18" charset="0"/>
              </a:rPr>
              <a:t>([</a:t>
            </a:r>
            <a:r>
              <a:rPr lang="en-US" sz="1320" kern="100" dirty="0" err="1">
                <a:latin typeface="Aptos" panose="020B0004020202020204" pitchFamily="34" charset="0"/>
                <a:cs typeface="Times New Roman" panose="02020603050405020304" pitchFamily="18" charset="0"/>
              </a:rPr>
              <a:t>link_contr</a:t>
            </a:r>
            <a:r>
              <a:rPr lang="en-US" sz="1320" kern="100" dirty="0">
                <a:latin typeface="Aptos" panose="020B0004020202020204" pitchFamily="34" charset="0"/>
                <a:cs typeface="Times New Roman" panose="02020603050405020304" pitchFamily="18" charset="0"/>
              </a:rPr>
              <a:t>])or [</a:t>
            </a:r>
            <a:r>
              <a:rPr lang="en-US" sz="1320" kern="100" dirty="0" err="1">
                <a:latin typeface="Aptos" panose="020B0004020202020204" pitchFamily="34" charset="0"/>
                <a:cs typeface="Times New Roman" panose="02020603050405020304" pitchFamily="18" charset="0"/>
              </a:rPr>
              <a:t>link_contr</a:t>
            </a:r>
            <a:r>
              <a:rPr lang="en-US" sz="1320" kern="100" dirty="0">
                <a:latin typeface="Aptos" panose="020B0004020202020204" pitchFamily="34" charset="0"/>
                <a:cs typeface="Times New Roman" panose="02020603050405020304" pitchFamily="18" charset="0"/>
              </a:rPr>
              <a:t>] in('http://not </a:t>
            </a:r>
            <a:r>
              <a:rPr lang="en-US" sz="1320" kern="100" dirty="0" err="1">
                <a:latin typeface="Aptos" panose="020B0004020202020204" pitchFamily="34" charset="0"/>
                <a:cs typeface="Times New Roman" panose="02020603050405020304" pitchFamily="18" charset="0"/>
              </a:rPr>
              <a:t>applicable','http</a:t>
            </a:r>
            <a:r>
              <a:rPr lang="en-US" sz="1320" kern="100" dirty="0">
                <a:latin typeface="Aptos" panose="020B0004020202020204" pitchFamily="34" charset="0"/>
                <a:cs typeface="Times New Roman" panose="02020603050405020304" pitchFamily="18" charset="0"/>
              </a:rPr>
              <a:t>://.','http://na','http://n/a','http://n.a','http://no </a:t>
            </a:r>
            <a:r>
              <a:rPr lang="en-US" sz="1320" kern="100" dirty="0" err="1">
                <a:latin typeface="Aptos" panose="020B0004020202020204" pitchFamily="34" charset="0"/>
                <a:cs typeface="Times New Roman" panose="02020603050405020304" pitchFamily="18" charset="0"/>
              </a:rPr>
              <a:t>link','http</a:t>
            </a:r>
            <a:r>
              <a:rPr lang="en-US" sz="1320" kern="100" dirty="0">
                <a:latin typeface="Aptos" panose="020B0004020202020204" pitchFamily="34" charset="0"/>
                <a:cs typeface="Times New Roman" panose="02020603050405020304" pitchFamily="18" charset="0"/>
              </a:rPr>
              <a:t>://xxx') then "CNTRCT-ERROR-01" elseif</a:t>
            </a:r>
          </a:p>
          <a:p>
            <a:r>
              <a:rPr lang="en-US" sz="1320" kern="100" dirty="0">
                <a:latin typeface="Aptos" panose="020B0004020202020204" pitchFamily="34" charset="0"/>
                <a:cs typeface="Times New Roman" panose="02020603050405020304" pitchFamily="18" charset="0"/>
              </a:rPr>
              <a:t>not contains ([</a:t>
            </a:r>
            <a:r>
              <a:rPr lang="en-US" sz="1320" kern="100" dirty="0" err="1">
                <a:latin typeface="Aptos" panose="020B0004020202020204" pitchFamily="34" charset="0"/>
                <a:cs typeface="Times New Roman" panose="02020603050405020304" pitchFamily="18" charset="0"/>
              </a:rPr>
              <a:t>link_contr</a:t>
            </a:r>
            <a:r>
              <a:rPr lang="en-US" sz="1320" kern="100" dirty="0">
                <a:latin typeface="Aptos" panose="020B0004020202020204" pitchFamily="34" charset="0"/>
                <a:cs typeface="Times New Roman" panose="02020603050405020304" pitchFamily="18" charset="0"/>
              </a:rPr>
              <a:t>], "https://") then "CNTRCT-ERROR-09" elseif</a:t>
            </a:r>
          </a:p>
          <a:p>
            <a:r>
              <a:rPr lang="en-US" sz="1320" kern="100" dirty="0">
                <a:latin typeface="Aptos" panose="020B0004020202020204" pitchFamily="34" charset="0"/>
                <a:cs typeface="Times New Roman" panose="02020603050405020304" pitchFamily="18" charset="0"/>
              </a:rPr>
              <a:t>[COUPA FLAG]in('</a:t>
            </a:r>
            <a:r>
              <a:rPr lang="en-US" sz="1320" kern="100" dirty="0" err="1">
                <a:latin typeface="Aptos" panose="020B0004020202020204" pitchFamily="34" charset="0"/>
                <a:cs typeface="Times New Roman" panose="02020603050405020304" pitchFamily="18" charset="0"/>
              </a:rPr>
              <a:t>yes'</a:t>
            </a:r>
            <a:r>
              <a:rPr lang="en-US" sz="1320" kern="100" dirty="0">
                <a:latin typeface="Aptos" panose="020B0004020202020204" pitchFamily="34" charset="0"/>
                <a:cs typeface="Times New Roman" panose="02020603050405020304" pitchFamily="18" charset="0"/>
              </a:rPr>
              <a:t>) and Contains([</a:t>
            </a:r>
            <a:r>
              <a:rPr lang="en-US" sz="1320" kern="100" dirty="0" err="1">
                <a:latin typeface="Aptos" panose="020B0004020202020204" pitchFamily="34" charset="0"/>
                <a:cs typeface="Times New Roman" panose="02020603050405020304" pitchFamily="18" charset="0"/>
              </a:rPr>
              <a:t>link_contr</a:t>
            </a:r>
            <a:r>
              <a:rPr lang="en-US" sz="1320" kern="100" dirty="0">
                <a:latin typeface="Aptos" panose="020B0004020202020204" pitchFamily="34" charset="0"/>
                <a:cs typeface="Times New Roman" panose="02020603050405020304" pitchFamily="18" charset="0"/>
              </a:rPr>
              <a:t>],"corporate.sourcehost.com/contracts") then "OK" elseif</a:t>
            </a:r>
          </a:p>
          <a:p>
            <a:r>
              <a:rPr lang="en-US" sz="1320" kern="100" dirty="0">
                <a:latin typeface="Aptos" panose="020B0004020202020204" pitchFamily="34" charset="0"/>
                <a:cs typeface="Times New Roman" panose="02020603050405020304" pitchFamily="18" charset="0"/>
              </a:rPr>
              <a:t>Contains([</a:t>
            </a:r>
            <a:r>
              <a:rPr lang="en-US" sz="1320" kern="100" dirty="0" err="1">
                <a:latin typeface="Aptos" panose="020B0004020202020204" pitchFamily="34" charset="0"/>
                <a:cs typeface="Times New Roman" panose="02020603050405020304" pitchFamily="18" charset="0"/>
              </a:rPr>
              <a:t>link_contr</a:t>
            </a:r>
            <a:r>
              <a:rPr lang="en-US" sz="1320" kern="100" dirty="0">
                <a:latin typeface="Aptos" panose="020B0004020202020204" pitchFamily="34" charset="0"/>
                <a:cs typeface="Times New Roman" panose="02020603050405020304" pitchFamily="18" charset="0"/>
              </a:rPr>
              <a:t>],"corporate.sourcehost.com/</a:t>
            </a:r>
            <a:r>
              <a:rPr lang="en-US" sz="1320" kern="100" dirty="0" err="1">
                <a:latin typeface="Aptos" panose="020B0004020202020204" pitchFamily="34" charset="0"/>
                <a:cs typeface="Times New Roman" panose="02020603050405020304" pitchFamily="18" charset="0"/>
              </a:rPr>
              <a:t>order_header</a:t>
            </a:r>
            <a:r>
              <a:rPr lang="en-US" sz="1320" kern="100" dirty="0">
                <a:latin typeface="Aptos" panose="020B0004020202020204" pitchFamily="34" charset="0"/>
                <a:cs typeface="Times New Roman" panose="02020603050405020304" pitchFamily="18" charset="0"/>
              </a:rPr>
              <a:t>") then "CNTRCT-ERROR-03" elseif</a:t>
            </a:r>
          </a:p>
          <a:p>
            <a:r>
              <a:rPr lang="en-US" sz="1320" kern="100" dirty="0">
                <a:latin typeface="Aptos" panose="020B0004020202020204" pitchFamily="34" charset="0"/>
                <a:cs typeface="Times New Roman" panose="02020603050405020304" pitchFamily="18" charset="0"/>
              </a:rPr>
              <a:t>Contains([</a:t>
            </a:r>
            <a:r>
              <a:rPr lang="en-US" sz="1320" kern="100" dirty="0" err="1">
                <a:latin typeface="Aptos" panose="020B0004020202020204" pitchFamily="34" charset="0"/>
                <a:cs typeface="Times New Roman" panose="02020603050405020304" pitchFamily="18" charset="0"/>
              </a:rPr>
              <a:t>link_contr</a:t>
            </a:r>
            <a:r>
              <a:rPr lang="en-US" sz="1320" kern="100" dirty="0">
                <a:latin typeface="Aptos" panose="020B0004020202020204" pitchFamily="34" charset="0"/>
                <a:cs typeface="Times New Roman" panose="02020603050405020304" pitchFamily="18" charset="0"/>
              </a:rPr>
              <a:t>],"corporate.sourcehost.com/suppliers") then "CNTRCT-ERROR-05" elseif</a:t>
            </a:r>
          </a:p>
          <a:p>
            <a:r>
              <a:rPr lang="en-US" sz="1320" kern="100" dirty="0">
                <a:latin typeface="Aptos" panose="020B0004020202020204" pitchFamily="34" charset="0"/>
                <a:cs typeface="Times New Roman" panose="02020603050405020304" pitchFamily="18" charset="0"/>
              </a:rPr>
              <a:t>[COUPA FLAG]in('</a:t>
            </a:r>
            <a:r>
              <a:rPr lang="en-US" sz="1320" kern="100" dirty="0" err="1">
                <a:latin typeface="Aptos" panose="020B0004020202020204" pitchFamily="34" charset="0"/>
                <a:cs typeface="Times New Roman" panose="02020603050405020304" pitchFamily="18" charset="0"/>
              </a:rPr>
              <a:t>yes'</a:t>
            </a:r>
            <a:r>
              <a:rPr lang="en-US" sz="1320" kern="100" dirty="0">
                <a:latin typeface="Aptos" panose="020B0004020202020204" pitchFamily="34" charset="0"/>
                <a:cs typeface="Times New Roman" panose="02020603050405020304" pitchFamily="18" charset="0"/>
              </a:rPr>
              <a:t>) and (Contains([</a:t>
            </a:r>
            <a:r>
              <a:rPr lang="en-US" sz="1320" kern="100" dirty="0" err="1">
                <a:latin typeface="Aptos" panose="020B0004020202020204" pitchFamily="34" charset="0"/>
                <a:cs typeface="Times New Roman" panose="02020603050405020304" pitchFamily="18" charset="0"/>
              </a:rPr>
              <a:t>link_contr</a:t>
            </a:r>
            <a:r>
              <a:rPr lang="en-US" sz="1320" kern="100" dirty="0">
                <a:latin typeface="Aptos" panose="020B0004020202020204" pitchFamily="34" charset="0"/>
                <a:cs typeface="Times New Roman" panose="02020603050405020304" pitchFamily="18" charset="0"/>
              </a:rPr>
              <a:t>],"drive.google.com/file/") or contains([</a:t>
            </a:r>
            <a:r>
              <a:rPr lang="en-US" sz="1320" kern="100" dirty="0" err="1">
                <a:latin typeface="Aptos" panose="020B0004020202020204" pitchFamily="34" charset="0"/>
                <a:cs typeface="Times New Roman" panose="02020603050405020304" pitchFamily="18" charset="0"/>
              </a:rPr>
              <a:t>link_contr</a:t>
            </a:r>
            <a:r>
              <a:rPr lang="en-US" sz="1320" kern="100" dirty="0">
                <a:latin typeface="Aptos" panose="020B0004020202020204" pitchFamily="34" charset="0"/>
                <a:cs typeface="Times New Roman" panose="02020603050405020304" pitchFamily="18" charset="0"/>
              </a:rPr>
              <a:t>],"https://docs.google.com/document/")) then "OK" elseif</a:t>
            </a:r>
          </a:p>
          <a:p>
            <a:r>
              <a:rPr lang="en-US" sz="1320" kern="100" dirty="0">
                <a:latin typeface="Aptos" panose="020B0004020202020204" pitchFamily="34" charset="0"/>
                <a:cs typeface="Times New Roman" panose="02020603050405020304" pitchFamily="18" charset="0"/>
              </a:rPr>
              <a:t>[COUPA FLAG]in('</a:t>
            </a:r>
            <a:r>
              <a:rPr lang="en-US" sz="1320" kern="100" dirty="0" err="1">
                <a:latin typeface="Aptos" panose="020B0004020202020204" pitchFamily="34" charset="0"/>
                <a:cs typeface="Times New Roman" panose="02020603050405020304" pitchFamily="18" charset="0"/>
              </a:rPr>
              <a:t>yes'</a:t>
            </a:r>
            <a:r>
              <a:rPr lang="en-US" sz="1320" kern="100" dirty="0">
                <a:latin typeface="Aptos" panose="020B0004020202020204" pitchFamily="34" charset="0"/>
                <a:cs typeface="Times New Roman" panose="02020603050405020304" pitchFamily="18" charset="0"/>
              </a:rPr>
              <a:t>) and not Contains([</a:t>
            </a:r>
            <a:r>
              <a:rPr lang="en-US" sz="1320" kern="100" dirty="0" err="1">
                <a:latin typeface="Aptos" panose="020B0004020202020204" pitchFamily="34" charset="0"/>
                <a:cs typeface="Times New Roman" panose="02020603050405020304" pitchFamily="18" charset="0"/>
              </a:rPr>
              <a:t>link_contr</a:t>
            </a:r>
            <a:r>
              <a:rPr lang="en-US" sz="1320" kern="100" dirty="0">
                <a:latin typeface="Aptos" panose="020B0004020202020204" pitchFamily="34" charset="0"/>
                <a:cs typeface="Times New Roman" panose="02020603050405020304" pitchFamily="18" charset="0"/>
              </a:rPr>
              <a:t>],"corporate.sourcehost.com/contracts") then "CNTRCT-ERROR-02" elseif</a:t>
            </a:r>
          </a:p>
          <a:p>
            <a:r>
              <a:rPr lang="en-US" sz="1320" kern="100" dirty="0">
                <a:latin typeface="Aptos" panose="020B0004020202020204" pitchFamily="34" charset="0"/>
                <a:cs typeface="Times New Roman" panose="02020603050405020304" pitchFamily="18" charset="0"/>
              </a:rPr>
              <a:t>[COUPA FLAG]in('no') and (Contains([</a:t>
            </a:r>
            <a:r>
              <a:rPr lang="en-US" sz="1320" kern="100" dirty="0" err="1">
                <a:latin typeface="Aptos" panose="020B0004020202020204" pitchFamily="34" charset="0"/>
                <a:cs typeface="Times New Roman" panose="02020603050405020304" pitchFamily="18" charset="0"/>
              </a:rPr>
              <a:t>link_contr</a:t>
            </a:r>
            <a:r>
              <a:rPr lang="en-US" sz="1320" kern="100" dirty="0">
                <a:latin typeface="Aptos" panose="020B0004020202020204" pitchFamily="34" charset="0"/>
                <a:cs typeface="Times New Roman" panose="02020603050405020304" pitchFamily="18" charset="0"/>
              </a:rPr>
              <a:t>],"corporate.sourcehost.com/contracts") or Contains([</a:t>
            </a:r>
            <a:r>
              <a:rPr lang="en-US" sz="1320" kern="100" dirty="0" err="1">
                <a:latin typeface="Aptos" panose="020B0004020202020204" pitchFamily="34" charset="0"/>
                <a:cs typeface="Times New Roman" panose="02020603050405020304" pitchFamily="18" charset="0"/>
              </a:rPr>
              <a:t>link_contr</a:t>
            </a:r>
            <a:r>
              <a:rPr lang="en-US" sz="1320" kern="100" dirty="0">
                <a:latin typeface="Aptos" panose="020B0004020202020204" pitchFamily="34" charset="0"/>
                <a:cs typeface="Times New Roman" panose="02020603050405020304" pitchFamily="18" charset="0"/>
              </a:rPr>
              <a:t>],"https://docs.google.com/document/")) then "OK" elseif</a:t>
            </a:r>
          </a:p>
          <a:p>
            <a:r>
              <a:rPr lang="en-US" sz="1320" kern="100" dirty="0">
                <a:latin typeface="Aptos" panose="020B0004020202020204" pitchFamily="34" charset="0"/>
                <a:cs typeface="Times New Roman" panose="02020603050405020304" pitchFamily="18" charset="0"/>
              </a:rPr>
              <a:t>contains([</a:t>
            </a:r>
            <a:r>
              <a:rPr lang="en-US" sz="1320" kern="100" dirty="0" err="1">
                <a:latin typeface="Aptos" panose="020B0004020202020204" pitchFamily="34" charset="0"/>
                <a:cs typeface="Times New Roman" panose="02020603050405020304" pitchFamily="18" charset="0"/>
              </a:rPr>
              <a:t>link_contr</a:t>
            </a:r>
            <a:r>
              <a:rPr lang="en-US" sz="1320" kern="100" dirty="0">
                <a:latin typeface="Aptos" panose="020B0004020202020204" pitchFamily="34" charset="0"/>
                <a:cs typeface="Times New Roman" panose="02020603050405020304" pitchFamily="18" charset="0"/>
              </a:rPr>
              <a:t>],'drive.google.com/file/') then "OK" elseif</a:t>
            </a:r>
          </a:p>
          <a:p>
            <a:r>
              <a:rPr lang="en-US" sz="1320" kern="100" dirty="0">
                <a:latin typeface="Aptos" panose="020B0004020202020204" pitchFamily="34" charset="0"/>
                <a:cs typeface="Times New Roman" panose="02020603050405020304" pitchFamily="18" charset="0"/>
              </a:rPr>
              <a:t>Contains([</a:t>
            </a:r>
            <a:r>
              <a:rPr lang="en-US" sz="1320" kern="100" dirty="0" err="1">
                <a:latin typeface="Aptos" panose="020B0004020202020204" pitchFamily="34" charset="0"/>
                <a:cs typeface="Times New Roman" panose="02020603050405020304" pitchFamily="18" charset="0"/>
              </a:rPr>
              <a:t>link_contr</a:t>
            </a:r>
            <a:r>
              <a:rPr lang="en-US" sz="1320" kern="100" dirty="0">
                <a:latin typeface="Aptos" panose="020B0004020202020204" pitchFamily="34" charset="0"/>
                <a:cs typeface="Times New Roman" panose="02020603050405020304" pitchFamily="18" charset="0"/>
              </a:rPr>
              <a:t>],"drive.google.com/drive/folder") then "CNTRCT-ERROR-07" elseif</a:t>
            </a:r>
          </a:p>
          <a:p>
            <a:r>
              <a:rPr lang="en-US" sz="1320" kern="100" dirty="0">
                <a:latin typeface="Aptos" panose="020B0004020202020204" pitchFamily="34" charset="0"/>
                <a:cs typeface="Times New Roman" panose="02020603050405020304" pitchFamily="18" charset="0"/>
              </a:rPr>
              <a:t>Contains([</a:t>
            </a:r>
            <a:r>
              <a:rPr lang="en-US" sz="1320" kern="100" dirty="0" err="1">
                <a:latin typeface="Aptos" panose="020B0004020202020204" pitchFamily="34" charset="0"/>
                <a:cs typeface="Times New Roman" panose="02020603050405020304" pitchFamily="18" charset="0"/>
              </a:rPr>
              <a:t>link_contr</a:t>
            </a:r>
            <a:r>
              <a:rPr lang="en-US" sz="1320" kern="100" dirty="0">
                <a:latin typeface="Aptos" panose="020B0004020202020204" pitchFamily="34" charset="0"/>
                <a:cs typeface="Times New Roman" panose="02020603050405020304" pitchFamily="18" charset="0"/>
              </a:rPr>
              <a:t>],"https://corporatecorp.quickbase.com/</a:t>
            </a:r>
            <a:r>
              <a:rPr lang="en-US" sz="1320" kern="100" dirty="0" err="1">
                <a:latin typeface="Aptos" panose="020B0004020202020204" pitchFamily="34" charset="0"/>
                <a:cs typeface="Times New Roman" panose="02020603050405020304" pitchFamily="18" charset="0"/>
              </a:rPr>
              <a:t>db</a:t>
            </a:r>
            <a:r>
              <a:rPr lang="en-US" sz="1320" kern="100" dirty="0">
                <a:latin typeface="Aptos" panose="020B0004020202020204" pitchFamily="34" charset="0"/>
                <a:cs typeface="Times New Roman" panose="02020603050405020304" pitchFamily="18" charset="0"/>
              </a:rPr>
              <a:t>/bnskksae5") then "CNTRCT-ERROR-06" elseif</a:t>
            </a:r>
          </a:p>
          <a:p>
            <a:r>
              <a:rPr lang="en-US" sz="1320" kern="100" dirty="0">
                <a:latin typeface="Aptos" panose="020B0004020202020204" pitchFamily="34" charset="0"/>
                <a:cs typeface="Times New Roman" panose="02020603050405020304" pitchFamily="18" charset="0"/>
              </a:rPr>
              <a:t>Not Contains([</a:t>
            </a:r>
            <a:r>
              <a:rPr lang="en-US" sz="1320" kern="100" dirty="0" err="1">
                <a:latin typeface="Aptos" panose="020B0004020202020204" pitchFamily="34" charset="0"/>
                <a:cs typeface="Times New Roman" panose="02020603050405020304" pitchFamily="18" charset="0"/>
              </a:rPr>
              <a:t>link_contr</a:t>
            </a:r>
            <a:r>
              <a:rPr lang="en-US" sz="1320" kern="100" dirty="0">
                <a:latin typeface="Aptos" panose="020B0004020202020204" pitchFamily="34" charset="0"/>
                <a:cs typeface="Times New Roman" panose="02020603050405020304" pitchFamily="18" charset="0"/>
              </a:rPr>
              <a:t>],"drive.google.com/file/") then "CNTRCT-ERROR-08" else </a:t>
            </a:r>
          </a:p>
          <a:p>
            <a:r>
              <a:rPr lang="en-US" sz="1320" kern="100" dirty="0">
                <a:latin typeface="Aptos" panose="020B0004020202020204" pitchFamily="34" charset="0"/>
                <a:cs typeface="Times New Roman" panose="02020603050405020304" pitchFamily="18" charset="0"/>
              </a:rPr>
              <a:t>"ERROR CL" endif</a:t>
            </a:r>
          </a:p>
          <a:p>
            <a:br>
              <a:rPr lang="en-US" sz="1320" kern="100" dirty="0">
                <a:latin typeface="Aptos" panose="020B0004020202020204" pitchFamily="34" charset="0"/>
                <a:cs typeface="Times New Roman" panose="02020603050405020304" pitchFamily="18" charset="0"/>
              </a:rPr>
            </a:br>
            <a:endParaRPr lang="en-US" sz="1320" kern="100" dirty="0">
              <a:latin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6269814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42F85F6-F640-A352-E8D0-1B52A1AFA20F}"/>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D276AEB3-1918-20CA-809C-AAE0EED04A07}"/>
              </a:ext>
            </a:extLst>
          </p:cNvPr>
          <p:cNvSpPr txBox="1"/>
          <p:nvPr/>
        </p:nvSpPr>
        <p:spPr>
          <a:xfrm>
            <a:off x="852754" y="482643"/>
            <a:ext cx="7315200" cy="361574"/>
          </a:xfrm>
          <a:prstGeom prst="rect">
            <a:avLst/>
          </a:prstGeom>
          <a:noFill/>
        </p:spPr>
        <p:txBody>
          <a:bodyPr wrap="square">
            <a:spAutoFit/>
          </a:bodyPr>
          <a:lstStyle/>
          <a:p>
            <a:pPr>
              <a:lnSpc>
                <a:spcPct val="115000"/>
              </a:lnSpc>
              <a:spcAft>
                <a:spcPts val="800"/>
              </a:spcAft>
            </a:pPr>
            <a:r>
              <a:rPr lang="en-US" sz="1600" b="1" kern="100" dirty="0">
                <a:latin typeface="Aptos" panose="020B0004020202020204" pitchFamily="34" charset="0"/>
                <a:cs typeface="Times New Roman" panose="02020603050405020304" pitchFamily="18" charset="0"/>
              </a:rPr>
              <a:t>Converted Qlik Sense Formula:</a:t>
            </a:r>
          </a:p>
        </p:txBody>
      </p:sp>
      <p:sp>
        <p:nvSpPr>
          <p:cNvPr id="17" name="TextBox 16">
            <a:extLst>
              <a:ext uri="{FF2B5EF4-FFF2-40B4-BE49-F238E27FC236}">
                <a16:creationId xmlns:a16="http://schemas.microsoft.com/office/drawing/2014/main" id="{26829494-551C-A0E0-A7C5-A7F773EEC3C8}"/>
              </a:ext>
            </a:extLst>
          </p:cNvPr>
          <p:cNvSpPr txBox="1"/>
          <p:nvPr/>
        </p:nvSpPr>
        <p:spPr>
          <a:xfrm>
            <a:off x="852754" y="797088"/>
            <a:ext cx="10787865" cy="3951851"/>
          </a:xfrm>
          <a:prstGeom prst="rect">
            <a:avLst/>
          </a:prstGeom>
          <a:noFill/>
        </p:spPr>
        <p:txBody>
          <a:bodyPr wrap="square">
            <a:spAutoFit/>
          </a:bodyPr>
          <a:lstStyle/>
          <a:p>
            <a:r>
              <a:rPr lang="en-US" sz="1320" dirty="0">
                <a:latin typeface="Aptos" panose="020B0004020202020204" pitchFamily="34" charset="0"/>
                <a:ea typeface="Aptos" panose="020B0004020202020204" pitchFamily="34" charset="0"/>
                <a:cs typeface="Times New Roman" panose="02020603050405020304" pitchFamily="18" charset="0"/>
              </a:rPr>
              <a:t>If(        not Match([</a:t>
            </a:r>
            <a:r>
              <a:rPr lang="en-US" sz="1320" dirty="0" err="1">
                <a:latin typeface="Aptos" panose="020B0004020202020204" pitchFamily="34" charset="0"/>
                <a:ea typeface="Aptos" panose="020B0004020202020204" pitchFamily="34" charset="0"/>
                <a:cs typeface="Times New Roman" panose="02020603050405020304" pitchFamily="18" charset="0"/>
              </a:rPr>
              <a:t>contr_status</a:t>
            </a:r>
            <a:r>
              <a:rPr lang="en-US" sz="1320" dirty="0">
                <a:latin typeface="Aptos" panose="020B0004020202020204" pitchFamily="34" charset="0"/>
                <a:ea typeface="Aptos" panose="020B0004020202020204" pitchFamily="34" charset="0"/>
                <a:cs typeface="Times New Roman" panose="02020603050405020304" pitchFamily="18" charset="0"/>
              </a:rPr>
              <a:t>], 'Contract Complete'),        'OK',</a:t>
            </a:r>
          </a:p>
          <a:p>
            <a:r>
              <a:rPr lang="en-US" sz="1320" dirty="0">
                <a:latin typeface="Aptos" panose="020B0004020202020204" pitchFamily="34" charset="0"/>
                <a:ea typeface="Aptos" panose="020B0004020202020204" pitchFamily="34" charset="0"/>
                <a:cs typeface="Times New Roman" panose="02020603050405020304" pitchFamily="18" charset="0"/>
              </a:rPr>
              <a:t>If(        </a:t>
            </a:r>
            <a:r>
              <a:rPr lang="en-US" sz="1320" dirty="0" err="1">
                <a:latin typeface="Aptos" panose="020B0004020202020204" pitchFamily="34" charset="0"/>
                <a:ea typeface="Aptos" panose="020B0004020202020204" pitchFamily="34" charset="0"/>
                <a:cs typeface="Times New Roman" panose="02020603050405020304" pitchFamily="18" charset="0"/>
              </a:rPr>
              <a:t>IsNull</a:t>
            </a:r>
            <a:r>
              <a:rPr lang="en-US" sz="1320" dirty="0">
                <a:latin typeface="Aptos" panose="020B0004020202020204" pitchFamily="34" charset="0"/>
                <a:ea typeface="Aptos" panose="020B0004020202020204" pitchFamily="34" charset="0"/>
                <a:cs typeface="Times New Roman" panose="02020603050405020304" pitchFamily="18" charset="0"/>
              </a:rPr>
              <a:t>([</a:t>
            </a:r>
            <a:r>
              <a:rPr lang="en-US" sz="1320" dirty="0" err="1">
                <a:latin typeface="Aptos" panose="020B0004020202020204" pitchFamily="34" charset="0"/>
                <a:ea typeface="Aptos" panose="020B0004020202020204" pitchFamily="34" charset="0"/>
                <a:cs typeface="Times New Roman" panose="02020603050405020304" pitchFamily="18" charset="0"/>
              </a:rPr>
              <a:t>link_contr</a:t>
            </a:r>
            <a:r>
              <a:rPr lang="en-US" sz="1320" dirty="0">
                <a:latin typeface="Aptos" panose="020B0004020202020204" pitchFamily="34" charset="0"/>
                <a:ea typeface="Aptos" panose="020B0004020202020204" pitchFamily="34" charset="0"/>
                <a:cs typeface="Times New Roman" panose="02020603050405020304" pitchFamily="18" charset="0"/>
              </a:rPr>
              <a:t>]) or Len(Trim([</a:t>
            </a:r>
            <a:r>
              <a:rPr lang="en-US" sz="1320" dirty="0" err="1">
                <a:latin typeface="Aptos" panose="020B0004020202020204" pitchFamily="34" charset="0"/>
                <a:ea typeface="Aptos" panose="020B0004020202020204" pitchFamily="34" charset="0"/>
                <a:cs typeface="Times New Roman" panose="02020603050405020304" pitchFamily="18" charset="0"/>
              </a:rPr>
              <a:t>link_contr</a:t>
            </a:r>
            <a:r>
              <a:rPr lang="en-US" sz="1320" dirty="0">
                <a:latin typeface="Aptos" panose="020B0004020202020204" pitchFamily="34" charset="0"/>
                <a:ea typeface="Aptos" panose="020B0004020202020204" pitchFamily="34" charset="0"/>
                <a:cs typeface="Times New Roman" panose="02020603050405020304" pitchFamily="18" charset="0"/>
              </a:rPr>
              <a:t>]))=0 or Match([</a:t>
            </a:r>
            <a:r>
              <a:rPr lang="en-US" sz="1320" dirty="0" err="1">
                <a:latin typeface="Aptos" panose="020B0004020202020204" pitchFamily="34" charset="0"/>
                <a:ea typeface="Aptos" panose="020B0004020202020204" pitchFamily="34" charset="0"/>
                <a:cs typeface="Times New Roman" panose="02020603050405020304" pitchFamily="18" charset="0"/>
              </a:rPr>
              <a:t>link_contr</a:t>
            </a:r>
            <a:r>
              <a:rPr lang="en-US" sz="1320" dirty="0">
                <a:latin typeface="Aptos" panose="020B0004020202020204" pitchFamily="34" charset="0"/>
                <a:ea typeface="Aptos" panose="020B0004020202020204" pitchFamily="34" charset="0"/>
                <a:cs typeface="Times New Roman" panose="02020603050405020304" pitchFamily="18" charset="0"/>
              </a:rPr>
              <a:t>],</a:t>
            </a:r>
          </a:p>
          <a:p>
            <a:r>
              <a:rPr lang="en-US" sz="1320" dirty="0">
                <a:latin typeface="Aptos" panose="020B0004020202020204" pitchFamily="34" charset="0"/>
                <a:ea typeface="Aptos" panose="020B0004020202020204" pitchFamily="34" charset="0"/>
                <a:cs typeface="Times New Roman" panose="02020603050405020304" pitchFamily="18" charset="0"/>
              </a:rPr>
              <a:t>        'http://not </a:t>
            </a:r>
            <a:r>
              <a:rPr lang="en-US" sz="1320" dirty="0" err="1">
                <a:latin typeface="Aptos" panose="020B0004020202020204" pitchFamily="34" charset="0"/>
                <a:ea typeface="Aptos" panose="020B0004020202020204" pitchFamily="34" charset="0"/>
                <a:cs typeface="Times New Roman" panose="02020603050405020304" pitchFamily="18" charset="0"/>
              </a:rPr>
              <a:t>applicable','http</a:t>
            </a:r>
            <a:r>
              <a:rPr lang="en-US" sz="1320" dirty="0">
                <a:latin typeface="Aptos" panose="020B0004020202020204" pitchFamily="34" charset="0"/>
                <a:ea typeface="Aptos" panose="020B0004020202020204" pitchFamily="34" charset="0"/>
                <a:cs typeface="Times New Roman" panose="02020603050405020304" pitchFamily="18" charset="0"/>
              </a:rPr>
              <a:t>://.','http://na','http://n/a','http://n.a','http://no </a:t>
            </a:r>
            <a:r>
              <a:rPr lang="en-US" sz="1320" dirty="0" err="1">
                <a:latin typeface="Aptos" panose="020B0004020202020204" pitchFamily="34" charset="0"/>
                <a:ea typeface="Aptos" panose="020B0004020202020204" pitchFamily="34" charset="0"/>
                <a:cs typeface="Times New Roman" panose="02020603050405020304" pitchFamily="18" charset="0"/>
              </a:rPr>
              <a:t>link','http</a:t>
            </a:r>
            <a:r>
              <a:rPr lang="en-US" sz="1320" dirty="0">
                <a:latin typeface="Aptos" panose="020B0004020202020204" pitchFamily="34" charset="0"/>
                <a:ea typeface="Aptos" panose="020B0004020202020204" pitchFamily="34" charset="0"/>
                <a:cs typeface="Times New Roman" panose="02020603050405020304" pitchFamily="18" charset="0"/>
              </a:rPr>
              <a:t>://xxx'),        'CNTRCT-ERROR-01',</a:t>
            </a:r>
          </a:p>
          <a:p>
            <a:r>
              <a:rPr lang="en-US" sz="1320" dirty="0">
                <a:latin typeface="Aptos" panose="020B0004020202020204" pitchFamily="34" charset="0"/>
                <a:ea typeface="Aptos" panose="020B0004020202020204" pitchFamily="34" charset="0"/>
                <a:cs typeface="Times New Roman" panose="02020603050405020304" pitchFamily="18" charset="0"/>
              </a:rPr>
              <a:t>If(        not </a:t>
            </a:r>
            <a:r>
              <a:rPr lang="en-US" sz="1320" dirty="0" err="1">
                <a:latin typeface="Aptos" panose="020B0004020202020204" pitchFamily="34" charset="0"/>
                <a:ea typeface="Aptos" panose="020B0004020202020204" pitchFamily="34" charset="0"/>
                <a:cs typeface="Times New Roman" panose="02020603050405020304" pitchFamily="18" charset="0"/>
              </a:rPr>
              <a:t>WildMatch</a:t>
            </a:r>
            <a:r>
              <a:rPr lang="en-US" sz="1320" dirty="0">
                <a:latin typeface="Aptos" panose="020B0004020202020204" pitchFamily="34" charset="0"/>
                <a:ea typeface="Aptos" panose="020B0004020202020204" pitchFamily="34" charset="0"/>
                <a:cs typeface="Times New Roman" panose="02020603050405020304" pitchFamily="18" charset="0"/>
              </a:rPr>
              <a:t>([</a:t>
            </a:r>
            <a:r>
              <a:rPr lang="en-US" sz="1320" dirty="0" err="1">
                <a:latin typeface="Aptos" panose="020B0004020202020204" pitchFamily="34" charset="0"/>
                <a:ea typeface="Aptos" panose="020B0004020202020204" pitchFamily="34" charset="0"/>
                <a:cs typeface="Times New Roman" panose="02020603050405020304" pitchFamily="18" charset="0"/>
              </a:rPr>
              <a:t>link_contr</a:t>
            </a:r>
            <a:r>
              <a:rPr lang="en-US" sz="1320" dirty="0">
                <a:latin typeface="Aptos" panose="020B0004020202020204" pitchFamily="34" charset="0"/>
                <a:ea typeface="Aptos" panose="020B0004020202020204" pitchFamily="34" charset="0"/>
                <a:cs typeface="Times New Roman" panose="02020603050405020304" pitchFamily="18" charset="0"/>
              </a:rPr>
              <a:t>], '*https://*'),        'CNTRCT-ERROR-09',</a:t>
            </a:r>
          </a:p>
          <a:p>
            <a:r>
              <a:rPr lang="en-US" sz="1320" dirty="0">
                <a:latin typeface="Aptos" panose="020B0004020202020204" pitchFamily="34" charset="0"/>
                <a:ea typeface="Aptos" panose="020B0004020202020204" pitchFamily="34" charset="0"/>
                <a:cs typeface="Times New Roman" panose="02020603050405020304" pitchFamily="18" charset="0"/>
              </a:rPr>
              <a:t>If(        Match([COUPA FLAG], '</a:t>
            </a:r>
            <a:r>
              <a:rPr lang="en-US" sz="1320" dirty="0" err="1">
                <a:latin typeface="Aptos" panose="020B0004020202020204" pitchFamily="34" charset="0"/>
                <a:ea typeface="Aptos" panose="020B0004020202020204" pitchFamily="34" charset="0"/>
                <a:cs typeface="Times New Roman" panose="02020603050405020304" pitchFamily="18" charset="0"/>
              </a:rPr>
              <a:t>yes'</a:t>
            </a:r>
            <a:r>
              <a:rPr lang="en-US" sz="1320" dirty="0">
                <a:latin typeface="Aptos" panose="020B0004020202020204" pitchFamily="34" charset="0"/>
                <a:ea typeface="Aptos" panose="020B0004020202020204" pitchFamily="34" charset="0"/>
                <a:cs typeface="Times New Roman" panose="02020603050405020304" pitchFamily="18" charset="0"/>
              </a:rPr>
              <a:t>) and </a:t>
            </a:r>
            <a:r>
              <a:rPr lang="en-US" sz="1320" dirty="0" err="1">
                <a:latin typeface="Aptos" panose="020B0004020202020204" pitchFamily="34" charset="0"/>
                <a:ea typeface="Aptos" panose="020B0004020202020204" pitchFamily="34" charset="0"/>
                <a:cs typeface="Times New Roman" panose="02020603050405020304" pitchFamily="18" charset="0"/>
              </a:rPr>
              <a:t>WildMatch</a:t>
            </a:r>
            <a:r>
              <a:rPr lang="en-US" sz="1320" dirty="0">
                <a:latin typeface="Aptos" panose="020B0004020202020204" pitchFamily="34" charset="0"/>
                <a:ea typeface="Aptos" panose="020B0004020202020204" pitchFamily="34" charset="0"/>
                <a:cs typeface="Times New Roman" panose="02020603050405020304" pitchFamily="18" charset="0"/>
              </a:rPr>
              <a:t>([</a:t>
            </a:r>
            <a:r>
              <a:rPr lang="en-US" sz="1320" dirty="0" err="1">
                <a:latin typeface="Aptos" panose="020B0004020202020204" pitchFamily="34" charset="0"/>
                <a:ea typeface="Aptos" panose="020B0004020202020204" pitchFamily="34" charset="0"/>
                <a:cs typeface="Times New Roman" panose="02020603050405020304" pitchFamily="18" charset="0"/>
              </a:rPr>
              <a:t>link_contr</a:t>
            </a:r>
            <a:r>
              <a:rPr lang="en-US" sz="1320" dirty="0">
                <a:latin typeface="Aptos" panose="020B0004020202020204" pitchFamily="34" charset="0"/>
                <a:ea typeface="Aptos" panose="020B0004020202020204" pitchFamily="34" charset="0"/>
                <a:cs typeface="Times New Roman" panose="02020603050405020304" pitchFamily="18" charset="0"/>
              </a:rPr>
              <a:t>], '*corporate.sourcehost.com/contracts*'),        'OK',</a:t>
            </a:r>
          </a:p>
          <a:p>
            <a:r>
              <a:rPr lang="en-US" sz="1320" dirty="0">
                <a:latin typeface="Aptos" panose="020B0004020202020204" pitchFamily="34" charset="0"/>
                <a:ea typeface="Aptos" panose="020B0004020202020204" pitchFamily="34" charset="0"/>
                <a:cs typeface="Times New Roman" panose="02020603050405020304" pitchFamily="18" charset="0"/>
              </a:rPr>
              <a:t>If(        </a:t>
            </a:r>
            <a:r>
              <a:rPr lang="en-US" sz="1320" dirty="0" err="1">
                <a:latin typeface="Aptos" panose="020B0004020202020204" pitchFamily="34" charset="0"/>
                <a:ea typeface="Aptos" panose="020B0004020202020204" pitchFamily="34" charset="0"/>
                <a:cs typeface="Times New Roman" panose="02020603050405020304" pitchFamily="18" charset="0"/>
              </a:rPr>
              <a:t>WildMatch</a:t>
            </a:r>
            <a:r>
              <a:rPr lang="en-US" sz="1320" dirty="0">
                <a:latin typeface="Aptos" panose="020B0004020202020204" pitchFamily="34" charset="0"/>
                <a:ea typeface="Aptos" panose="020B0004020202020204" pitchFamily="34" charset="0"/>
                <a:cs typeface="Times New Roman" panose="02020603050405020304" pitchFamily="18" charset="0"/>
              </a:rPr>
              <a:t>([</a:t>
            </a:r>
            <a:r>
              <a:rPr lang="en-US" sz="1320" dirty="0" err="1">
                <a:latin typeface="Aptos" panose="020B0004020202020204" pitchFamily="34" charset="0"/>
                <a:ea typeface="Aptos" panose="020B0004020202020204" pitchFamily="34" charset="0"/>
                <a:cs typeface="Times New Roman" panose="02020603050405020304" pitchFamily="18" charset="0"/>
              </a:rPr>
              <a:t>link_contr</a:t>
            </a:r>
            <a:r>
              <a:rPr lang="en-US" sz="1320" dirty="0">
                <a:latin typeface="Aptos" panose="020B0004020202020204" pitchFamily="34" charset="0"/>
                <a:ea typeface="Aptos" panose="020B0004020202020204" pitchFamily="34" charset="0"/>
                <a:cs typeface="Times New Roman" panose="02020603050405020304" pitchFamily="18" charset="0"/>
              </a:rPr>
              <a:t>], '*corporate.sourcehost.com/</a:t>
            </a:r>
            <a:r>
              <a:rPr lang="en-US" sz="1320" dirty="0" err="1">
                <a:latin typeface="Aptos" panose="020B0004020202020204" pitchFamily="34" charset="0"/>
                <a:ea typeface="Aptos" panose="020B0004020202020204" pitchFamily="34" charset="0"/>
                <a:cs typeface="Times New Roman" panose="02020603050405020304" pitchFamily="18" charset="0"/>
              </a:rPr>
              <a:t>order_header</a:t>
            </a:r>
            <a:r>
              <a:rPr lang="en-US" sz="1320" dirty="0">
                <a:latin typeface="Aptos" panose="020B0004020202020204" pitchFamily="34" charset="0"/>
                <a:ea typeface="Aptos" panose="020B0004020202020204" pitchFamily="34" charset="0"/>
                <a:cs typeface="Times New Roman" panose="02020603050405020304" pitchFamily="18" charset="0"/>
              </a:rPr>
              <a:t>*'),        'CNTRCT-ERROR-03',</a:t>
            </a:r>
          </a:p>
          <a:p>
            <a:r>
              <a:rPr lang="en-US" sz="1320" dirty="0">
                <a:latin typeface="Aptos" panose="020B0004020202020204" pitchFamily="34" charset="0"/>
                <a:ea typeface="Aptos" panose="020B0004020202020204" pitchFamily="34" charset="0"/>
                <a:cs typeface="Times New Roman" panose="02020603050405020304" pitchFamily="18" charset="0"/>
              </a:rPr>
              <a:t>If(        </a:t>
            </a:r>
            <a:r>
              <a:rPr lang="en-US" sz="1320" dirty="0" err="1">
                <a:latin typeface="Aptos" panose="020B0004020202020204" pitchFamily="34" charset="0"/>
                <a:ea typeface="Aptos" panose="020B0004020202020204" pitchFamily="34" charset="0"/>
                <a:cs typeface="Times New Roman" panose="02020603050405020304" pitchFamily="18" charset="0"/>
              </a:rPr>
              <a:t>WildMatch</a:t>
            </a:r>
            <a:r>
              <a:rPr lang="en-US" sz="1320" dirty="0">
                <a:latin typeface="Aptos" panose="020B0004020202020204" pitchFamily="34" charset="0"/>
                <a:ea typeface="Aptos" panose="020B0004020202020204" pitchFamily="34" charset="0"/>
                <a:cs typeface="Times New Roman" panose="02020603050405020304" pitchFamily="18" charset="0"/>
              </a:rPr>
              <a:t>([</a:t>
            </a:r>
            <a:r>
              <a:rPr lang="en-US" sz="1320" dirty="0" err="1">
                <a:latin typeface="Aptos" panose="020B0004020202020204" pitchFamily="34" charset="0"/>
                <a:ea typeface="Aptos" panose="020B0004020202020204" pitchFamily="34" charset="0"/>
                <a:cs typeface="Times New Roman" panose="02020603050405020304" pitchFamily="18" charset="0"/>
              </a:rPr>
              <a:t>link_contr</a:t>
            </a:r>
            <a:r>
              <a:rPr lang="en-US" sz="1320" dirty="0">
                <a:latin typeface="Aptos" panose="020B0004020202020204" pitchFamily="34" charset="0"/>
                <a:ea typeface="Aptos" panose="020B0004020202020204" pitchFamily="34" charset="0"/>
                <a:cs typeface="Times New Roman" panose="02020603050405020304" pitchFamily="18" charset="0"/>
              </a:rPr>
              <a:t>], '*corporate.sourcehost.com/suppliers*'),        'CNTRCT-ERROR-05',</a:t>
            </a:r>
          </a:p>
          <a:p>
            <a:r>
              <a:rPr lang="en-US" sz="1320" dirty="0">
                <a:latin typeface="Aptos" panose="020B0004020202020204" pitchFamily="34" charset="0"/>
                <a:ea typeface="Aptos" panose="020B0004020202020204" pitchFamily="34" charset="0"/>
                <a:cs typeface="Times New Roman" panose="02020603050405020304" pitchFamily="18" charset="0"/>
              </a:rPr>
              <a:t>If(        Match([COUPA FLAG], '</a:t>
            </a:r>
            <a:r>
              <a:rPr lang="en-US" sz="1320" dirty="0" err="1">
                <a:latin typeface="Aptos" panose="020B0004020202020204" pitchFamily="34" charset="0"/>
                <a:ea typeface="Aptos" panose="020B0004020202020204" pitchFamily="34" charset="0"/>
                <a:cs typeface="Times New Roman" panose="02020603050405020304" pitchFamily="18" charset="0"/>
              </a:rPr>
              <a:t>yes'</a:t>
            </a:r>
            <a:r>
              <a:rPr lang="en-US" sz="1320" dirty="0">
                <a:latin typeface="Aptos" panose="020B0004020202020204" pitchFamily="34" charset="0"/>
                <a:ea typeface="Aptos" panose="020B0004020202020204" pitchFamily="34" charset="0"/>
                <a:cs typeface="Times New Roman" panose="02020603050405020304" pitchFamily="18" charset="0"/>
              </a:rPr>
              <a:t>) and (</a:t>
            </a:r>
            <a:r>
              <a:rPr lang="en-US" sz="1320" dirty="0" err="1">
                <a:latin typeface="Aptos" panose="020B0004020202020204" pitchFamily="34" charset="0"/>
                <a:ea typeface="Aptos" panose="020B0004020202020204" pitchFamily="34" charset="0"/>
                <a:cs typeface="Times New Roman" panose="02020603050405020304" pitchFamily="18" charset="0"/>
              </a:rPr>
              <a:t>WildMatch</a:t>
            </a:r>
            <a:r>
              <a:rPr lang="en-US" sz="1320" dirty="0">
                <a:latin typeface="Aptos" panose="020B0004020202020204" pitchFamily="34" charset="0"/>
                <a:ea typeface="Aptos" panose="020B0004020202020204" pitchFamily="34" charset="0"/>
                <a:cs typeface="Times New Roman" panose="02020603050405020304" pitchFamily="18" charset="0"/>
              </a:rPr>
              <a:t>([</a:t>
            </a:r>
            <a:r>
              <a:rPr lang="en-US" sz="1320" dirty="0" err="1">
                <a:latin typeface="Aptos" panose="020B0004020202020204" pitchFamily="34" charset="0"/>
                <a:ea typeface="Aptos" panose="020B0004020202020204" pitchFamily="34" charset="0"/>
                <a:cs typeface="Times New Roman" panose="02020603050405020304" pitchFamily="18" charset="0"/>
              </a:rPr>
              <a:t>link_contr</a:t>
            </a:r>
            <a:r>
              <a:rPr lang="en-US" sz="1320" dirty="0">
                <a:latin typeface="Aptos" panose="020B0004020202020204" pitchFamily="34" charset="0"/>
                <a:ea typeface="Aptos" panose="020B0004020202020204" pitchFamily="34" charset="0"/>
                <a:cs typeface="Times New Roman" panose="02020603050405020304" pitchFamily="18" charset="0"/>
              </a:rPr>
              <a:t>], '*drive.google.com/file/*’)</a:t>
            </a:r>
          </a:p>
          <a:p>
            <a:r>
              <a:rPr lang="en-US" sz="1320" dirty="0">
                <a:latin typeface="Aptos" panose="020B0004020202020204" pitchFamily="34" charset="0"/>
                <a:ea typeface="Aptos" panose="020B0004020202020204" pitchFamily="34" charset="0"/>
                <a:cs typeface="Times New Roman" panose="02020603050405020304" pitchFamily="18" charset="0"/>
              </a:rPr>
              <a:t>            or </a:t>
            </a:r>
            <a:r>
              <a:rPr lang="en-US" sz="1320" dirty="0" err="1">
                <a:latin typeface="Aptos" panose="020B0004020202020204" pitchFamily="34" charset="0"/>
                <a:ea typeface="Aptos" panose="020B0004020202020204" pitchFamily="34" charset="0"/>
                <a:cs typeface="Times New Roman" panose="02020603050405020304" pitchFamily="18" charset="0"/>
              </a:rPr>
              <a:t>WildMatch</a:t>
            </a:r>
            <a:r>
              <a:rPr lang="en-US" sz="1320" dirty="0">
                <a:latin typeface="Aptos" panose="020B0004020202020204" pitchFamily="34" charset="0"/>
                <a:ea typeface="Aptos" panose="020B0004020202020204" pitchFamily="34" charset="0"/>
                <a:cs typeface="Times New Roman" panose="02020603050405020304" pitchFamily="18" charset="0"/>
              </a:rPr>
              <a:t>([</a:t>
            </a:r>
            <a:r>
              <a:rPr lang="en-US" sz="1320" dirty="0" err="1">
                <a:latin typeface="Aptos" panose="020B0004020202020204" pitchFamily="34" charset="0"/>
                <a:ea typeface="Aptos" panose="020B0004020202020204" pitchFamily="34" charset="0"/>
                <a:cs typeface="Times New Roman" panose="02020603050405020304" pitchFamily="18" charset="0"/>
              </a:rPr>
              <a:t>link_contr</a:t>
            </a:r>
            <a:r>
              <a:rPr lang="en-US" sz="1320" dirty="0">
                <a:latin typeface="Aptos" panose="020B0004020202020204" pitchFamily="34" charset="0"/>
                <a:ea typeface="Aptos" panose="020B0004020202020204" pitchFamily="34" charset="0"/>
                <a:cs typeface="Times New Roman" panose="02020603050405020304" pitchFamily="18" charset="0"/>
              </a:rPr>
              <a:t>], '*https://docs.google.com/document/*')),        'OK',</a:t>
            </a:r>
          </a:p>
          <a:p>
            <a:r>
              <a:rPr lang="en-US" sz="1320" dirty="0">
                <a:latin typeface="Aptos" panose="020B0004020202020204" pitchFamily="34" charset="0"/>
                <a:ea typeface="Aptos" panose="020B0004020202020204" pitchFamily="34" charset="0"/>
                <a:cs typeface="Times New Roman" panose="02020603050405020304" pitchFamily="18" charset="0"/>
              </a:rPr>
              <a:t>If(        Match([COUPA FLAG], '</a:t>
            </a:r>
            <a:r>
              <a:rPr lang="en-US" sz="1320" dirty="0" err="1">
                <a:latin typeface="Aptos" panose="020B0004020202020204" pitchFamily="34" charset="0"/>
                <a:ea typeface="Aptos" panose="020B0004020202020204" pitchFamily="34" charset="0"/>
                <a:cs typeface="Times New Roman" panose="02020603050405020304" pitchFamily="18" charset="0"/>
              </a:rPr>
              <a:t>yes'</a:t>
            </a:r>
            <a:r>
              <a:rPr lang="en-US" sz="1320" dirty="0">
                <a:latin typeface="Aptos" panose="020B0004020202020204" pitchFamily="34" charset="0"/>
                <a:ea typeface="Aptos" panose="020B0004020202020204" pitchFamily="34" charset="0"/>
                <a:cs typeface="Times New Roman" panose="02020603050405020304" pitchFamily="18" charset="0"/>
              </a:rPr>
              <a:t>) and not </a:t>
            </a:r>
            <a:r>
              <a:rPr lang="en-US" sz="1320" dirty="0" err="1">
                <a:latin typeface="Aptos" panose="020B0004020202020204" pitchFamily="34" charset="0"/>
                <a:ea typeface="Aptos" panose="020B0004020202020204" pitchFamily="34" charset="0"/>
                <a:cs typeface="Times New Roman" panose="02020603050405020304" pitchFamily="18" charset="0"/>
              </a:rPr>
              <a:t>WildMatch</a:t>
            </a:r>
            <a:r>
              <a:rPr lang="en-US" sz="1320" dirty="0">
                <a:latin typeface="Aptos" panose="020B0004020202020204" pitchFamily="34" charset="0"/>
                <a:ea typeface="Aptos" panose="020B0004020202020204" pitchFamily="34" charset="0"/>
                <a:cs typeface="Times New Roman" panose="02020603050405020304" pitchFamily="18" charset="0"/>
              </a:rPr>
              <a:t>([</a:t>
            </a:r>
            <a:r>
              <a:rPr lang="en-US" sz="1320" dirty="0" err="1">
                <a:latin typeface="Aptos" panose="020B0004020202020204" pitchFamily="34" charset="0"/>
                <a:ea typeface="Aptos" panose="020B0004020202020204" pitchFamily="34" charset="0"/>
                <a:cs typeface="Times New Roman" panose="02020603050405020304" pitchFamily="18" charset="0"/>
              </a:rPr>
              <a:t>link_contr</a:t>
            </a:r>
            <a:r>
              <a:rPr lang="en-US" sz="1320" dirty="0">
                <a:latin typeface="Aptos" panose="020B0004020202020204" pitchFamily="34" charset="0"/>
                <a:ea typeface="Aptos" panose="020B0004020202020204" pitchFamily="34" charset="0"/>
                <a:cs typeface="Times New Roman" panose="02020603050405020304" pitchFamily="18" charset="0"/>
              </a:rPr>
              <a:t>], '*corporate.sourcehost.com/contracts*'),        'CNTRCT-ERROR-02',</a:t>
            </a:r>
          </a:p>
          <a:p>
            <a:r>
              <a:rPr lang="en-US" sz="1320" dirty="0">
                <a:latin typeface="Aptos" panose="020B0004020202020204" pitchFamily="34" charset="0"/>
                <a:ea typeface="Aptos" panose="020B0004020202020204" pitchFamily="34" charset="0"/>
                <a:cs typeface="Times New Roman" panose="02020603050405020304" pitchFamily="18" charset="0"/>
              </a:rPr>
              <a:t>If(        Match([COUPA FLAG], 'no') and (</a:t>
            </a:r>
            <a:r>
              <a:rPr lang="en-US" sz="1320" dirty="0" err="1">
                <a:latin typeface="Aptos" panose="020B0004020202020204" pitchFamily="34" charset="0"/>
                <a:ea typeface="Aptos" panose="020B0004020202020204" pitchFamily="34" charset="0"/>
                <a:cs typeface="Times New Roman" panose="02020603050405020304" pitchFamily="18" charset="0"/>
              </a:rPr>
              <a:t>WildMatch</a:t>
            </a:r>
            <a:r>
              <a:rPr lang="en-US" sz="1320" dirty="0">
                <a:latin typeface="Aptos" panose="020B0004020202020204" pitchFamily="34" charset="0"/>
                <a:ea typeface="Aptos" panose="020B0004020202020204" pitchFamily="34" charset="0"/>
                <a:cs typeface="Times New Roman" panose="02020603050405020304" pitchFamily="18" charset="0"/>
              </a:rPr>
              <a:t>([</a:t>
            </a:r>
            <a:r>
              <a:rPr lang="en-US" sz="1320" dirty="0" err="1">
                <a:latin typeface="Aptos" panose="020B0004020202020204" pitchFamily="34" charset="0"/>
                <a:ea typeface="Aptos" panose="020B0004020202020204" pitchFamily="34" charset="0"/>
                <a:cs typeface="Times New Roman" panose="02020603050405020304" pitchFamily="18" charset="0"/>
              </a:rPr>
              <a:t>link_contr</a:t>
            </a:r>
            <a:r>
              <a:rPr lang="en-US" sz="1320" dirty="0">
                <a:latin typeface="Aptos" panose="020B0004020202020204" pitchFamily="34" charset="0"/>
                <a:ea typeface="Aptos" panose="020B0004020202020204" pitchFamily="34" charset="0"/>
                <a:cs typeface="Times New Roman" panose="02020603050405020304" pitchFamily="18" charset="0"/>
              </a:rPr>
              <a:t>], '*corporate.sourcehost.com/contracts*’) </a:t>
            </a:r>
          </a:p>
          <a:p>
            <a:r>
              <a:rPr lang="en-US" sz="1320" dirty="0">
                <a:latin typeface="Aptos" panose="020B0004020202020204" pitchFamily="34" charset="0"/>
                <a:ea typeface="Aptos" panose="020B0004020202020204" pitchFamily="34" charset="0"/>
                <a:cs typeface="Times New Roman" panose="02020603050405020304" pitchFamily="18" charset="0"/>
              </a:rPr>
              <a:t>            or </a:t>
            </a:r>
            <a:r>
              <a:rPr lang="en-US" sz="1320" dirty="0" err="1">
                <a:latin typeface="Aptos" panose="020B0004020202020204" pitchFamily="34" charset="0"/>
                <a:ea typeface="Aptos" panose="020B0004020202020204" pitchFamily="34" charset="0"/>
                <a:cs typeface="Times New Roman" panose="02020603050405020304" pitchFamily="18" charset="0"/>
              </a:rPr>
              <a:t>WildMatch</a:t>
            </a:r>
            <a:r>
              <a:rPr lang="en-US" sz="1320" dirty="0">
                <a:latin typeface="Aptos" panose="020B0004020202020204" pitchFamily="34" charset="0"/>
                <a:ea typeface="Aptos" panose="020B0004020202020204" pitchFamily="34" charset="0"/>
                <a:cs typeface="Times New Roman" panose="02020603050405020304" pitchFamily="18" charset="0"/>
              </a:rPr>
              <a:t>([</a:t>
            </a:r>
            <a:r>
              <a:rPr lang="en-US" sz="1320" dirty="0" err="1">
                <a:latin typeface="Aptos" panose="020B0004020202020204" pitchFamily="34" charset="0"/>
                <a:ea typeface="Aptos" panose="020B0004020202020204" pitchFamily="34" charset="0"/>
                <a:cs typeface="Times New Roman" panose="02020603050405020304" pitchFamily="18" charset="0"/>
              </a:rPr>
              <a:t>link_contr</a:t>
            </a:r>
            <a:r>
              <a:rPr lang="en-US" sz="1320" dirty="0">
                <a:latin typeface="Aptos" panose="020B0004020202020204" pitchFamily="34" charset="0"/>
                <a:ea typeface="Aptos" panose="020B0004020202020204" pitchFamily="34" charset="0"/>
                <a:cs typeface="Times New Roman" panose="02020603050405020304" pitchFamily="18" charset="0"/>
              </a:rPr>
              <a:t>], '*https://docs.google.com/document/*')),        'OK',</a:t>
            </a:r>
          </a:p>
          <a:p>
            <a:r>
              <a:rPr lang="en-US" sz="1320" dirty="0">
                <a:latin typeface="Aptos" panose="020B0004020202020204" pitchFamily="34" charset="0"/>
                <a:ea typeface="Aptos" panose="020B0004020202020204" pitchFamily="34" charset="0"/>
                <a:cs typeface="Times New Roman" panose="02020603050405020304" pitchFamily="18" charset="0"/>
              </a:rPr>
              <a:t>If(        </a:t>
            </a:r>
            <a:r>
              <a:rPr lang="en-US" sz="1320" dirty="0" err="1">
                <a:latin typeface="Aptos" panose="020B0004020202020204" pitchFamily="34" charset="0"/>
                <a:ea typeface="Aptos" panose="020B0004020202020204" pitchFamily="34" charset="0"/>
                <a:cs typeface="Times New Roman" panose="02020603050405020304" pitchFamily="18" charset="0"/>
              </a:rPr>
              <a:t>WildMatch</a:t>
            </a:r>
            <a:r>
              <a:rPr lang="en-US" sz="1320" dirty="0">
                <a:latin typeface="Aptos" panose="020B0004020202020204" pitchFamily="34" charset="0"/>
                <a:ea typeface="Aptos" panose="020B0004020202020204" pitchFamily="34" charset="0"/>
                <a:cs typeface="Times New Roman" panose="02020603050405020304" pitchFamily="18" charset="0"/>
              </a:rPr>
              <a:t>([</a:t>
            </a:r>
            <a:r>
              <a:rPr lang="en-US" sz="1320" dirty="0" err="1">
                <a:latin typeface="Aptos" panose="020B0004020202020204" pitchFamily="34" charset="0"/>
                <a:ea typeface="Aptos" panose="020B0004020202020204" pitchFamily="34" charset="0"/>
                <a:cs typeface="Times New Roman" panose="02020603050405020304" pitchFamily="18" charset="0"/>
              </a:rPr>
              <a:t>link_contr</a:t>
            </a:r>
            <a:r>
              <a:rPr lang="en-US" sz="1320" dirty="0">
                <a:latin typeface="Aptos" panose="020B0004020202020204" pitchFamily="34" charset="0"/>
                <a:ea typeface="Aptos" panose="020B0004020202020204" pitchFamily="34" charset="0"/>
                <a:cs typeface="Times New Roman" panose="02020603050405020304" pitchFamily="18" charset="0"/>
              </a:rPr>
              <a:t>], '*drive.google.com/file/*'),        'OK',</a:t>
            </a:r>
          </a:p>
          <a:p>
            <a:r>
              <a:rPr lang="en-US" sz="1320" dirty="0">
                <a:latin typeface="Aptos" panose="020B0004020202020204" pitchFamily="34" charset="0"/>
                <a:ea typeface="Aptos" panose="020B0004020202020204" pitchFamily="34" charset="0"/>
                <a:cs typeface="Times New Roman" panose="02020603050405020304" pitchFamily="18" charset="0"/>
              </a:rPr>
              <a:t>If(        </a:t>
            </a:r>
            <a:r>
              <a:rPr lang="en-US" sz="1320" dirty="0" err="1">
                <a:latin typeface="Aptos" panose="020B0004020202020204" pitchFamily="34" charset="0"/>
                <a:ea typeface="Aptos" panose="020B0004020202020204" pitchFamily="34" charset="0"/>
                <a:cs typeface="Times New Roman" panose="02020603050405020304" pitchFamily="18" charset="0"/>
              </a:rPr>
              <a:t>WildMatch</a:t>
            </a:r>
            <a:r>
              <a:rPr lang="en-US" sz="1320" dirty="0">
                <a:latin typeface="Aptos" panose="020B0004020202020204" pitchFamily="34" charset="0"/>
                <a:ea typeface="Aptos" panose="020B0004020202020204" pitchFamily="34" charset="0"/>
                <a:cs typeface="Times New Roman" panose="02020603050405020304" pitchFamily="18" charset="0"/>
              </a:rPr>
              <a:t>([</a:t>
            </a:r>
            <a:r>
              <a:rPr lang="en-US" sz="1320" dirty="0" err="1">
                <a:latin typeface="Aptos" panose="020B0004020202020204" pitchFamily="34" charset="0"/>
                <a:ea typeface="Aptos" panose="020B0004020202020204" pitchFamily="34" charset="0"/>
                <a:cs typeface="Times New Roman" panose="02020603050405020304" pitchFamily="18" charset="0"/>
              </a:rPr>
              <a:t>link_contr</a:t>
            </a:r>
            <a:r>
              <a:rPr lang="en-US" sz="1320" dirty="0">
                <a:latin typeface="Aptos" panose="020B0004020202020204" pitchFamily="34" charset="0"/>
                <a:ea typeface="Aptos" panose="020B0004020202020204" pitchFamily="34" charset="0"/>
                <a:cs typeface="Times New Roman" panose="02020603050405020304" pitchFamily="18" charset="0"/>
              </a:rPr>
              <a:t>], '*drive.google.com/drive/folder*'),        'CNTRCT-ERROR-07',</a:t>
            </a:r>
          </a:p>
          <a:p>
            <a:r>
              <a:rPr lang="en-US" sz="1320" dirty="0">
                <a:latin typeface="Aptos" panose="020B0004020202020204" pitchFamily="34" charset="0"/>
                <a:ea typeface="Aptos" panose="020B0004020202020204" pitchFamily="34" charset="0"/>
                <a:cs typeface="Times New Roman" panose="02020603050405020304" pitchFamily="18" charset="0"/>
              </a:rPr>
              <a:t>If(        </a:t>
            </a:r>
            <a:r>
              <a:rPr lang="en-US" sz="1320" dirty="0" err="1">
                <a:latin typeface="Aptos" panose="020B0004020202020204" pitchFamily="34" charset="0"/>
                <a:ea typeface="Aptos" panose="020B0004020202020204" pitchFamily="34" charset="0"/>
                <a:cs typeface="Times New Roman" panose="02020603050405020304" pitchFamily="18" charset="0"/>
              </a:rPr>
              <a:t>WildMatch</a:t>
            </a:r>
            <a:r>
              <a:rPr lang="en-US" sz="1320" dirty="0">
                <a:latin typeface="Aptos" panose="020B0004020202020204" pitchFamily="34" charset="0"/>
                <a:ea typeface="Aptos" panose="020B0004020202020204" pitchFamily="34" charset="0"/>
                <a:cs typeface="Times New Roman" panose="02020603050405020304" pitchFamily="18" charset="0"/>
              </a:rPr>
              <a:t>([</a:t>
            </a:r>
            <a:r>
              <a:rPr lang="en-US" sz="1320" dirty="0" err="1">
                <a:latin typeface="Aptos" panose="020B0004020202020204" pitchFamily="34" charset="0"/>
                <a:ea typeface="Aptos" panose="020B0004020202020204" pitchFamily="34" charset="0"/>
                <a:cs typeface="Times New Roman" panose="02020603050405020304" pitchFamily="18" charset="0"/>
              </a:rPr>
              <a:t>link_contr</a:t>
            </a:r>
            <a:r>
              <a:rPr lang="en-US" sz="1320" dirty="0">
                <a:latin typeface="Aptos" panose="020B0004020202020204" pitchFamily="34" charset="0"/>
                <a:ea typeface="Aptos" panose="020B0004020202020204" pitchFamily="34" charset="0"/>
                <a:cs typeface="Times New Roman" panose="02020603050405020304" pitchFamily="18" charset="0"/>
              </a:rPr>
              <a:t>], '*https://corporatecorp.quickbase.com/db/bnskksae5*'),        'CNTRCT-ERROR-06',</a:t>
            </a:r>
          </a:p>
          <a:p>
            <a:r>
              <a:rPr lang="en-US" sz="1320" dirty="0">
                <a:latin typeface="Aptos" panose="020B0004020202020204" pitchFamily="34" charset="0"/>
                <a:ea typeface="Aptos" panose="020B0004020202020204" pitchFamily="34" charset="0"/>
                <a:cs typeface="Times New Roman" panose="02020603050405020304" pitchFamily="18" charset="0"/>
              </a:rPr>
              <a:t>If(        not </a:t>
            </a:r>
            <a:r>
              <a:rPr lang="en-US" sz="1320" dirty="0" err="1">
                <a:latin typeface="Aptos" panose="020B0004020202020204" pitchFamily="34" charset="0"/>
                <a:ea typeface="Aptos" panose="020B0004020202020204" pitchFamily="34" charset="0"/>
                <a:cs typeface="Times New Roman" panose="02020603050405020304" pitchFamily="18" charset="0"/>
              </a:rPr>
              <a:t>WildMatch</a:t>
            </a:r>
            <a:r>
              <a:rPr lang="en-US" sz="1320" dirty="0">
                <a:latin typeface="Aptos" panose="020B0004020202020204" pitchFamily="34" charset="0"/>
                <a:ea typeface="Aptos" panose="020B0004020202020204" pitchFamily="34" charset="0"/>
                <a:cs typeface="Times New Roman" panose="02020603050405020304" pitchFamily="18" charset="0"/>
              </a:rPr>
              <a:t>([</a:t>
            </a:r>
            <a:r>
              <a:rPr lang="en-US" sz="1320" dirty="0" err="1">
                <a:latin typeface="Aptos" panose="020B0004020202020204" pitchFamily="34" charset="0"/>
                <a:ea typeface="Aptos" panose="020B0004020202020204" pitchFamily="34" charset="0"/>
                <a:cs typeface="Times New Roman" panose="02020603050405020304" pitchFamily="18" charset="0"/>
              </a:rPr>
              <a:t>link_contr</a:t>
            </a:r>
            <a:r>
              <a:rPr lang="en-US" sz="1320" dirty="0">
                <a:latin typeface="Aptos" panose="020B0004020202020204" pitchFamily="34" charset="0"/>
                <a:ea typeface="Aptos" panose="020B0004020202020204" pitchFamily="34" charset="0"/>
                <a:cs typeface="Times New Roman" panose="02020603050405020304" pitchFamily="18" charset="0"/>
              </a:rPr>
              <a:t>], '*drive.google.com/file/*'),        'CNTRCT-ERROR-08','ERROR CL'</a:t>
            </a:r>
          </a:p>
          <a:p>
            <a:r>
              <a:rPr lang="en-US" sz="1320" dirty="0">
                <a:latin typeface="Aptos" panose="020B0004020202020204" pitchFamily="34" charset="0"/>
                <a:ea typeface="Aptos" panose="020B0004020202020204" pitchFamily="34" charset="0"/>
                <a:cs typeface="Times New Roman" panose="02020603050405020304" pitchFamily="18" charset="0"/>
              </a:rPr>
              <a:t>)))))))))))))</a:t>
            </a:r>
          </a:p>
          <a:p>
            <a:br>
              <a:rPr lang="en-US" sz="1320" kern="100" dirty="0">
                <a:latin typeface="Aptos" panose="020B0004020202020204" pitchFamily="34" charset="0"/>
                <a:cs typeface="Times New Roman" panose="02020603050405020304" pitchFamily="18" charset="0"/>
              </a:rPr>
            </a:br>
            <a:endParaRPr lang="en-US" sz="1320" kern="100" dirty="0">
              <a:latin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8959827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C24CDC2-E831-B587-E284-9F63BFB85D88}"/>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708BF9EE-9B70-C5AF-DF5C-E05A61E9895F}"/>
              </a:ext>
            </a:extLst>
          </p:cNvPr>
          <p:cNvSpPr txBox="1"/>
          <p:nvPr/>
        </p:nvSpPr>
        <p:spPr>
          <a:xfrm>
            <a:off x="852755" y="588573"/>
            <a:ext cx="7315200" cy="369332"/>
          </a:xfrm>
          <a:prstGeom prst="rect">
            <a:avLst/>
          </a:prstGeom>
          <a:noFill/>
        </p:spPr>
        <p:txBody>
          <a:bodyPr wrap="square">
            <a:spAutoFit/>
          </a:bodyPr>
          <a:lstStyle/>
          <a:p>
            <a:r>
              <a:rPr lang="en-US" b="1" dirty="0"/>
              <a:t>Technical Nuances</a:t>
            </a:r>
            <a:endParaRPr lang="en-US" dirty="0"/>
          </a:p>
        </p:txBody>
      </p:sp>
      <p:sp>
        <p:nvSpPr>
          <p:cNvPr id="11" name="TextBox 10">
            <a:extLst>
              <a:ext uri="{FF2B5EF4-FFF2-40B4-BE49-F238E27FC236}">
                <a16:creationId xmlns:a16="http://schemas.microsoft.com/office/drawing/2014/main" id="{819E3A68-170D-B7C8-3C8C-DB0C490EF34E}"/>
              </a:ext>
            </a:extLst>
          </p:cNvPr>
          <p:cNvSpPr txBox="1"/>
          <p:nvPr/>
        </p:nvSpPr>
        <p:spPr>
          <a:xfrm>
            <a:off x="852755" y="957905"/>
            <a:ext cx="10058400" cy="1717393"/>
          </a:xfrm>
          <a:prstGeom prst="rect">
            <a:avLst/>
          </a:prstGeom>
          <a:noFill/>
        </p:spPr>
        <p:txBody>
          <a:bodyPr wrap="square">
            <a:spAutoFit/>
          </a:bodyPr>
          <a:lstStyle/>
          <a:p>
            <a:r>
              <a:rPr lang="en-US" sz="1320" dirty="0"/>
              <a:t>The most difficult aspect of these translations involved mapping functions that behave differently across platforms. For instance, Alteryx’s CONTAINS function is highly flexible, whereas the Qlik Sense equivalent, MATCH, uses a completely different format and strictness levels. By utilizing Python to automate the bulk of the "heavy lifting," I was able to focus my time on solving these complex syntax edge cases, ultimately delivering a secure and highly performant Qlik Sense environment.</a:t>
            </a:r>
          </a:p>
          <a:p>
            <a:endParaRPr lang="en-US" sz="1320" dirty="0"/>
          </a:p>
          <a:p>
            <a:r>
              <a:rPr lang="en-US" sz="1320" dirty="0"/>
              <a:t>Statistics for the workflow used in this demo:</a:t>
            </a:r>
          </a:p>
          <a:p>
            <a:r>
              <a:rPr lang="en-US" sz="1320" kern="0" dirty="0">
                <a:solidFill>
                  <a:srgbClr val="000000"/>
                </a:solidFill>
              </a:rPr>
              <a:t>.</a:t>
            </a:r>
          </a:p>
          <a:p>
            <a:endParaRPr lang="en-US" sz="1320" kern="0" dirty="0">
              <a:solidFill>
                <a:srgbClr val="000000"/>
              </a:solidFill>
            </a:endParaRPr>
          </a:p>
        </p:txBody>
      </p:sp>
      <p:pic>
        <p:nvPicPr>
          <p:cNvPr id="5" name="Picture 4">
            <a:extLst>
              <a:ext uri="{FF2B5EF4-FFF2-40B4-BE49-F238E27FC236}">
                <a16:creationId xmlns:a16="http://schemas.microsoft.com/office/drawing/2014/main" id="{B9E6C393-D1CD-3BD8-8D5A-945068AB77BC}"/>
              </a:ext>
            </a:extLst>
          </p:cNvPr>
          <p:cNvPicPr>
            <a:picLocks noChangeAspect="1"/>
          </p:cNvPicPr>
          <p:nvPr/>
        </p:nvPicPr>
        <p:blipFill>
          <a:blip r:embed="rId2"/>
          <a:stretch>
            <a:fillRect/>
          </a:stretch>
        </p:blipFill>
        <p:spPr>
          <a:xfrm>
            <a:off x="1540961" y="2397406"/>
            <a:ext cx="8681988" cy="1410338"/>
          </a:xfrm>
          <a:prstGeom prst="rect">
            <a:avLst/>
          </a:prstGeom>
        </p:spPr>
      </p:pic>
    </p:spTree>
    <p:extLst>
      <p:ext uri="{BB962C8B-B14F-4D97-AF65-F5344CB8AC3E}">
        <p14:creationId xmlns:p14="http://schemas.microsoft.com/office/powerpoint/2010/main" val="14855165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3091709-4BD0-6B35-2D24-5E10A2F8C4E3}"/>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82F119B-50AE-4043-74BD-DA9A36ADE556}"/>
              </a:ext>
            </a:extLst>
          </p:cNvPr>
          <p:cNvSpPr>
            <a:spLocks noGrp="1"/>
          </p:cNvSpPr>
          <p:nvPr>
            <p:ph type="sldNum" sz="quarter" idx="4294967295"/>
          </p:nvPr>
        </p:nvSpPr>
        <p:spPr>
          <a:xfrm>
            <a:off x="13714021" y="7620001"/>
            <a:ext cx="459180" cy="438150"/>
          </a:xfrm>
          <a:prstGeom prst="rect">
            <a:avLst/>
          </a:prstGeom>
        </p:spPr>
        <p:txBody>
          <a:bodyPr/>
          <a:lstStyle/>
          <a:p>
            <a:fld id="{3D4F4C84-0D31-A643-82AF-CFAC5D1B5615}" type="slidenum">
              <a:rPr lang="en-US" smtClean="0"/>
              <a:pPr/>
              <a:t>9</a:t>
            </a:fld>
            <a:endParaRPr lang="en-US"/>
          </a:p>
        </p:txBody>
      </p:sp>
      <p:sp>
        <p:nvSpPr>
          <p:cNvPr id="21" name="Rectangle 14">
            <a:extLst>
              <a:ext uri="{FF2B5EF4-FFF2-40B4-BE49-F238E27FC236}">
                <a16:creationId xmlns:a16="http://schemas.microsoft.com/office/drawing/2014/main" id="{DCB76C20-7B3B-39A3-6518-E7D47D54068B}"/>
              </a:ext>
            </a:extLst>
          </p:cNvPr>
          <p:cNvSpPr/>
          <p:nvPr/>
        </p:nvSpPr>
        <p:spPr>
          <a:xfrm>
            <a:off x="945395" y="410966"/>
            <a:ext cx="11763215" cy="7209035"/>
          </a:xfrm>
          <a:prstGeom prst="rect">
            <a:avLst/>
          </a:prstGeom>
          <a:noFill/>
          <a:ln w="38100" cap="flat">
            <a:solidFill>
              <a:schemeClr val="tx2"/>
            </a:solidFill>
            <a:prstDash val="solid"/>
            <a:miter/>
          </a:ln>
        </p:spPr>
        <p:txBody>
          <a:bodyPr vert="horz" wrap="square" lIns="109694" tIns="329095" rIns="109694" bIns="109694" anchor="t" anchorCtr="0" compatLnSpc="1">
            <a:noAutofit/>
          </a:bodyPr>
          <a:lstStyle/>
          <a:p>
            <a:pPr>
              <a:buNone/>
            </a:pPr>
            <a:r>
              <a:rPr lang="en-US" sz="1600" dirty="0"/>
              <a:t>The successful migration of these complex Alteryx workflows to Qlik Sense represents a significant milestone in our enterprise-wide modernization and cost-reduction initiatives. By moving beyond a simple "lift and shift" approach and instead engineering a programmatic migration path, we achieved several critical objectives:</a:t>
            </a:r>
          </a:p>
          <a:p>
            <a:pPr>
              <a:buFont typeface="Arial" panose="020B0604020202020204" pitchFamily="34" charset="0"/>
              <a:buChar char="•"/>
            </a:pPr>
            <a:endParaRPr lang="en-US" sz="1600" b="1" dirty="0"/>
          </a:p>
          <a:p>
            <a:pPr marL="285750" indent="-285750">
              <a:buFont typeface="Arial" panose="020B0604020202020204" pitchFamily="34" charset="0"/>
              <a:buChar char="•"/>
            </a:pPr>
            <a:r>
              <a:rPr lang="en-US" sz="1600" b="1" dirty="0"/>
              <a:t>Elimination of Technical Debt:</a:t>
            </a:r>
            <a:r>
              <a:rPr lang="en-US" sz="1600" dirty="0"/>
              <a:t> Through Phase 1 and 2, the "spaghetti" logic that had accrued over years was untangled and visually optimized. This not only facilitated the migration but also provided stakeholders with a clear, documented understanding of business logic that was previously obscured.</a:t>
            </a:r>
          </a:p>
          <a:p>
            <a:pPr marL="285750" indent="-285750">
              <a:buFont typeface="Arial" panose="020B0604020202020204" pitchFamily="34" charset="0"/>
              <a:buChar char="•"/>
            </a:pPr>
            <a:r>
              <a:rPr lang="en-US" sz="1600" b="1" dirty="0"/>
              <a:t>Scalability via Automation:</a:t>
            </a:r>
            <a:r>
              <a:rPr lang="en-US" sz="1600" dirty="0"/>
              <a:t> The development of custom Python utilities to manipulate underlying XML and translate formula syntax proved to be the project’s greatest force multiplier. By automating the most labor-intensive aspects of the conversion, we ensured consistency, minimized human error, and established a repeatable framework for future workflow deactivations.</a:t>
            </a:r>
          </a:p>
          <a:p>
            <a:pPr marL="285750" indent="-285750">
              <a:buFont typeface="Arial" panose="020B0604020202020204" pitchFamily="34" charset="0"/>
              <a:buChar char="•"/>
            </a:pPr>
            <a:r>
              <a:rPr lang="en-US" sz="1600" b="1" dirty="0"/>
              <a:t>Performance and Governance:</a:t>
            </a:r>
            <a:r>
              <a:rPr lang="en-US" sz="1600" dirty="0"/>
              <a:t> The final Qlik Sense environment offers superior performance compared to the legacy disparate server model. Centralizing this logic within the Qlik Sense load script has significantly bolstered our data security posture and provided a single source of truth for global reporting.</a:t>
            </a:r>
          </a:p>
          <a:p>
            <a:endParaRPr lang="en-US" sz="1600" dirty="0"/>
          </a:p>
          <a:p>
            <a:r>
              <a:rPr lang="en-US" sz="1600" dirty="0"/>
              <a:t>Ultimately, this project demonstrated that even the most complex legacy processes can be transitioned efficiently when technical ingenuity is applied to the migration process itself. By leveraging Python to bridge the gap between Alteryx's visual nodes and Qlik's script-based architecture, we have delivered a high-performance, sustainable analytics ecosystem that will serve the organization for years to come.</a:t>
            </a:r>
          </a:p>
          <a:p>
            <a:pPr defTabSz="548474">
              <a:defRPr sz="1800" b="0" i="0" u="none" strike="noStrike" kern="0" cap="none" spc="0" baseline="0">
                <a:solidFill>
                  <a:srgbClr val="000000"/>
                </a:solidFill>
                <a:uFillTx/>
              </a:defRPr>
            </a:pPr>
            <a:endParaRPr lang="en-US" sz="1200" dirty="0"/>
          </a:p>
        </p:txBody>
      </p:sp>
      <p:sp>
        <p:nvSpPr>
          <p:cNvPr id="22" name="Rectangle 21">
            <a:extLst>
              <a:ext uri="{FF2B5EF4-FFF2-40B4-BE49-F238E27FC236}">
                <a16:creationId xmlns:a16="http://schemas.microsoft.com/office/drawing/2014/main" id="{BA50A8A2-1398-61B3-BAC1-22EAEE4834A2}"/>
              </a:ext>
            </a:extLst>
          </p:cNvPr>
          <p:cNvSpPr/>
          <p:nvPr/>
        </p:nvSpPr>
        <p:spPr>
          <a:xfrm>
            <a:off x="1662635" y="255222"/>
            <a:ext cx="2005239" cy="295466"/>
          </a:xfrm>
          <a:prstGeom prst="rect">
            <a:avLst/>
          </a:prstGeom>
          <a:solidFill>
            <a:srgbClr val="FFFFFF"/>
          </a:solidFill>
          <a:ln cap="flat">
            <a:noFill/>
            <a:prstDash val="solid"/>
          </a:ln>
        </p:spPr>
        <p:txBody>
          <a:bodyPr vert="horz" wrap="square" lIns="54852" tIns="0" rIns="54852" bIns="0" anchor="ctr" anchorCtr="0" compatLnSpc="1">
            <a:spAutoFit/>
          </a:bodyPr>
          <a:lstStyle/>
          <a:p>
            <a:pPr defTabSz="548474">
              <a:defRPr sz="1800" b="0" i="0" u="none" strike="noStrike" kern="0" cap="none" spc="0" baseline="0">
                <a:solidFill>
                  <a:srgbClr val="000000"/>
                </a:solidFill>
                <a:uFillTx/>
              </a:defRPr>
            </a:pPr>
            <a:r>
              <a:rPr lang="en-US" sz="1920" b="1" dirty="0">
                <a:solidFill>
                  <a:srgbClr val="0080CB"/>
                </a:solidFill>
                <a:latin typeface="+mj-lt"/>
              </a:rPr>
              <a:t>  CONCLUSION </a:t>
            </a:r>
          </a:p>
        </p:txBody>
      </p:sp>
    </p:spTree>
    <p:extLst>
      <p:ext uri="{BB962C8B-B14F-4D97-AF65-F5344CB8AC3E}">
        <p14:creationId xmlns:p14="http://schemas.microsoft.com/office/powerpoint/2010/main" val="2972374050"/>
      </p:ext>
    </p:extLst>
  </p:cSld>
  <p:clrMapOvr>
    <a:masterClrMapping/>
  </p:clrMapOvr>
</p:sld>
</file>

<file path=ppt/theme/theme1.xml><?xml version="1.0" encoding="utf-8"?>
<a:theme xmlns:a="http://schemas.openxmlformats.org/drawingml/2006/main" name="Alteryx Corporate template">
  <a:themeElements>
    <a:clrScheme name="Alteryx">
      <a:dk1>
        <a:srgbClr val="00263E"/>
      </a:dk1>
      <a:lt1>
        <a:srgbClr val="FFFFFF"/>
      </a:lt1>
      <a:dk2>
        <a:srgbClr val="0080CB"/>
      </a:dk2>
      <a:lt2>
        <a:srgbClr val="FFFFFF"/>
      </a:lt2>
      <a:accent1>
        <a:srgbClr val="0080CB"/>
      </a:accent1>
      <a:accent2>
        <a:srgbClr val="FF9B18"/>
      </a:accent2>
      <a:accent3>
        <a:srgbClr val="00BD88"/>
      </a:accent3>
      <a:accent4>
        <a:srgbClr val="FF4347"/>
      </a:accent4>
      <a:accent5>
        <a:srgbClr val="00664E"/>
      </a:accent5>
      <a:accent6>
        <a:srgbClr val="00263E"/>
      </a:accent6>
      <a:hlink>
        <a:srgbClr val="0080CB"/>
      </a:hlink>
      <a:folHlink>
        <a:srgbClr val="BA0000"/>
      </a:folHlink>
    </a:clrScheme>
    <a:fontScheme name="Alteryx">
      <a:majorFont>
        <a:latin typeface="Arial Bold"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Regular" panose="020B0604020202020204"/>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lteryx_Corporate_PPT_2024" id="{E1F8B393-253A-8745-8FC5-863AF3901377}" vid="{1F8E0AFD-4913-F64F-9700-30EA8F76BEF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BD7610F5E44364886F804F00783BD60" ma:contentTypeVersion="0" ma:contentTypeDescription="Create a new document." ma:contentTypeScope="" ma:versionID="2c91aaa9489df6788fb3664d6f7137e6">
  <xsd:schema xmlns:xsd="http://www.w3.org/2001/XMLSchema" xmlns:xs="http://www.w3.org/2001/XMLSchema" xmlns:p="http://schemas.microsoft.com/office/2006/metadata/properties" targetNamespace="http://schemas.microsoft.com/office/2006/metadata/properties" ma:root="true" ma:fieldsID="31d5eec3c12ee2e8127422d567928fa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56C10E42-1693-4A08-B218-110E501E075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554C8614-33A7-414F-AC00-003995D31299}">
  <ds:schemaRefs>
    <ds:schemaRef ds:uri="http://schemas.microsoft.com/sharepoint/v3/contenttype/forms"/>
  </ds:schemaRefs>
</ds:datastoreItem>
</file>

<file path=customXml/itemProps3.xml><?xml version="1.0" encoding="utf-8"?>
<ds:datastoreItem xmlns:ds="http://schemas.openxmlformats.org/officeDocument/2006/customXml" ds:itemID="{456C20D6-A487-4686-979F-5311C7674B55}">
  <ds:schemaRefs>
    <ds:schemaRef ds:uri="http://schemas.microsoft.com/office/2006/documentManagement/types"/>
    <ds:schemaRef ds:uri="http://purl.org/dc/elements/1.1/"/>
    <ds:schemaRef ds:uri="http://www.w3.org/XML/1998/namespace"/>
    <ds:schemaRef ds:uri="http://schemas.microsoft.com/office/infopath/2007/PartnerControls"/>
    <ds:schemaRef ds:uri="http://schemas.microsoft.com/sharepoint/v3"/>
    <ds:schemaRef ds:uri="http://purl.org/dc/terms/"/>
    <ds:schemaRef ds:uri="http://schemas.microsoft.com/office/2006/metadata/properties"/>
    <ds:schemaRef ds:uri="http://purl.org/dc/dcmitype/"/>
    <ds:schemaRef ds:uri="http://schemas.openxmlformats.org/package/2006/metadata/core-properties"/>
    <ds:schemaRef ds:uri="afdad88d-59d7-491b-b1f1-5afb507b604e"/>
    <ds:schemaRef ds:uri="5ca20806-8183-4b03-997e-4d228571ca18"/>
  </ds:schemaRefs>
</ds:datastoreItem>
</file>

<file path=docProps/app.xml><?xml version="1.0" encoding="utf-8"?>
<Properties xmlns="http://schemas.openxmlformats.org/officeDocument/2006/extended-properties" xmlns:vt="http://schemas.openxmlformats.org/officeDocument/2006/docPropsVTypes">
  <Template>Alteryx_Corporate_PPT_2024</Template>
  <TotalTime>3718</TotalTime>
  <Words>1643</Words>
  <Application>Microsoft Office PowerPoint</Application>
  <PresentationFormat>Custom</PresentationFormat>
  <Paragraphs>100</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Aptos</vt:lpstr>
      <vt:lpstr>Arial</vt:lpstr>
      <vt:lpstr>Calibri</vt:lpstr>
      <vt:lpstr>Segoe UI</vt:lpstr>
      <vt:lpstr>Alteryx Corporate template</vt:lpstr>
      <vt:lpstr>Alteryx Migration Case Study</vt:lpstr>
      <vt:lpstr>PowerPoint Presentation</vt:lpstr>
      <vt:lpstr>Use Case Example Screenshot</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Brooke Baldwin</dc:creator>
  <cp:lastModifiedBy>Roeper, Gregory</cp:lastModifiedBy>
  <cp:revision>18</cp:revision>
  <dcterms:created xsi:type="dcterms:W3CDTF">2025-02-12T14:45:48Z</dcterms:created>
  <dcterms:modified xsi:type="dcterms:W3CDTF">2026-01-30T17:39:51Z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0x010100ABD7610F5E44364886F804F00783BD60</vt:lpwstr>
  </property>
  <property fmtid="{D5CDD505-2E9C-101B-9397-08002B2CF9AE}" pid="3" name="MediaServiceImageTags">
    <vt:lpwstr/>
  </property>
  <property fmtid="{D5CDD505-2E9C-101B-9397-08002B2CF9AE}" pid="4" name="_dlc_DocIdItemGuid">
    <vt:lpwstr>6e07e9bb-94a9-4a03-8977-1fc71aed9fa4</vt:lpwstr>
  </property>
</Properties>
</file>